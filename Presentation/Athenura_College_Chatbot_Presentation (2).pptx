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0" r:id="rId3"/>
    <p:sldId id="258" r:id="rId4"/>
    <p:sldId id="259" r:id="rId5"/>
    <p:sldId id="260" r:id="rId6"/>
    <p:sldId id="257" r:id="rId7"/>
    <p:sldId id="261" r:id="rId8"/>
    <p:sldId id="262" r:id="rId9"/>
    <p:sldId id="263" r:id="rId10"/>
    <p:sldId id="264" r:id="rId11"/>
    <p:sldId id="265"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2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796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I'm Kumpati Kezia Jeshura, and I'm presenting our Data Science and Analytics project — a Chatbot for College Enquiry System built using Natural Language Processing. I led this project as team coordinator, working with six teammates split into three pairs, each owning a distinct part of the pipeline: dataset preparation, the ML pipeline, and the chatbot interface. Today I'll walk you through the problem we solved, how we built it, the real issues we ran into along the way and how we fixed them, and then we'll close with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the problem we're solving. Every admission season, colleges get flooded with the same repetitive questions — about admissions, courses, fees, hostel life, placements, exam schedules. Right now this is handled manually through phone calls, emails, and office visits, which doesn't scale and burns staff time. Static FAQ pages don't help much either, because students phrase the same question in dozens of different ways and a fixed page can't adapt to that. So the real problem is: how do we give students instant, accurate answers around the clock, without needing a human on the other end every time? That's exactly the gap our chatbot fills — we cover eight core enquiry categories and respond instantly, any time of 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were fourfold. First, the chatbot needed to genuinely understand natural language — not just match keywords, but interpret how students actually phrase questions. Second, it needed to respond instantly and accurately, pulling from a verified dataset rather than guessing. Third, the whole point was to reduce the administrative load on college staff by automating the repetitive slice of enquiries. And fourth, as a Data Science project, we wanted to demonstrate the complete pipeline — text preprocessing, feature extraction, machine learning classification, and retrieval — as a coherent, working system, not just a proof of concept.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architecture. A question comes in from the React frontend, hits our Flask API's predict endpoint, and goes through the same preprocessing pipeline used during training — lowercase, strip punctuation and numbers, tokenize, remove stopwords, lemmatize. We deliberately kept words like 'no', 'not', and 'never' out of the stopword list because they change the meaning of a question. The cleaned text goes through our TF-IDF vectorizer and Logistic Regression model, which predicts an intent — admission, fees, hostel, and so on. If the model is confident, above a 0.35 threshold, we don't just return a random answer from that intent — we run cosine similarity to find the most similar verified question within that intent, so the response is grounded in real data. If confidence is low, we fall back to a Groq-hosted LLM to generate an answer on the fly, or a safe default message if Groq isn't configured. There's also a fast path before all this — greetings and exact dataset matches get instant replies without going through the ML model at 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organized ourselves. As team lead, I split the six of us into three pairs, each responsible for one stage of the pipeline so work could move in parallel instead of bottlenecking on one person. Pair one — Shagil and Waseem — owned dataset preparation and cleaning. Pair two — Abhishek and Poorva — built the machine learning pipeline and produced our trained model files. Pair three — Pratiksha and Maksud — built the chatbot interface and handled integration between frontend and backend. I coordinated across all three, reviewed each other's outputs, and stitched everything into the final working system.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Shagil and Waseem owned the dataset — arguably the most foundational piece, since everything downstream depends on its quality. They built a Q&amp;A dataset spanning eight categories: admission, courses, fees, eligibility, scholarship, hostel, placement, and examination. Every answer was checked against an official source before being included, and each row carries a source ID and a verification status so we can always trace where an answer came from. The final dataset has 245 rows spread fairly evenly across the eight intents, with zero missing values. On the right you can see the distribution — examination and courses have the most entries, hostel and eligibility the fewest, but all eight are reasonably balanced.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Abhishek and Poorva built the actual machine learning core. The pipeline runs in four stages: first, the same preprocessing every question goes through at inference time — lowercase, strip punctuation and numbers, tokenize, remove stopwords while deliberately keeping negation words like 'no', 'not', and 'never', then lemmatize. Second, they fit a TF-IDF vectorizer over the cleaned questions to turn text into numeric features. Third, they trained a Logistic Regression classifier on those features to predict one of our eight intents. Finally, they exported three artifacts as pickle files — the trained model, the fitted vectorizer, and the list of intent classes — which the Flask backend loads at startup. We double-checked that the model's classes, the intent_classes file, and the dataset's own Intent column are all exactly identical, so there's no mismatch anywhere in the chain.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Pratiksha and Maksud built everything the student actually sees and touches. The frontend is a React and TypeScript app built with Vite — it has a full chat interface with message history, a sidebar, category shortcut cards for quick topics, suggested-question chips, and even a brochure modal for quick reference. There's also a settings panel so the backend URL can be reconfigured, which matters once you're deploying beyond your own laptop. On the integration side, they connected this frontend to our Flask backend's single predict endpoint — the app sends a question, and gets back the predicted intent, a confidence score, the verified response, and which dataset question it matched against. Getting the frontend's API connector to correctly consume that exact response shape — and turning on CORS so the browser could call the Flask server directly — was their core integration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to spend real time on, because this is where the actual engineering happened. First, our early dataset mixed Q&amp;A from multiple colleges, so we'd get contradictory answers — different fee amounts, different hostel rules — depending on which source a row came from. We fixed this by scoping the entire dataset to one college, Galgotias University, and re-verifying every single row against its official source. Second, questions outside our training distribution had nowhere to go except a generic fallback message. We solved this by adding a Groq LLM fallback that automatically kicks in whenever our model's confidence drops below 0.35, so the bot still gives a useful answer instead of just failing. Third, we had intent misrouting — questions about fees and scholarships, for example, sometimes got confused with each other because they use similar words. We expanded training examples per intent and added in-intent cosine similarity retrieval, so even after classification, we pick the closest verified answer rather than trusting a single first match. And fourth, we caught a subtler bug: vocabulary leakage in our cross-validation, where the TF-IDF vectorizer was fit before we split the data, making our evaluation scores look better than they really were. We rebuilt the validation flow so the vectorizer is fit strictly inside each training fold, which gave us numbers we can actually trust.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look at the technology stack. On the data and ML side, we used Python with Pandas and NumPy for data handling, NLTK for text preprocessing, and Scikit-learn for our TF-IDF vectorizer and Logistic Regression classifier, with the trained artifacts saved via Joblib. The backend runs on Flask with CORS enabled, uses python-dotenv for configuration, and integrates the Groq API for our LLM fallback. The frontend is React 19 with TypeScript, built with Vite, styled using Tailwind CSS, with react-markdown for rendering formatted bot responses. It's a modern, lightweight stack end to end.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actually deliver? Students get instant, verified answers across all eight core enquiry categories, backed by 245 checked Q&amp;A pairs rather than guesses. For the college, it directly reduces the repetitive share of enquiries that used to consume administrative staff time. And for edge cases outside our dataset, the Groq fallback means the system degrades gracefully instead of just failing — it still tries to give a useful answer. Altogether, this demonstrates a practical, production-shaped application of NLP and Machine Learning to a real institutional problem.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there's a clear roadmap. We could move toward more advanced transformer-based models for finer-grained language understanding, add multilingual support so students can ask questions in regional languages, add voice-based interaction so students can simply speak instead of type, and integrate with WhatsApp and the college's ERP system so the chatbot lives where students already are and pulls from live institutional data instead of a static dataset.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it in action. I'll ask the chatbot a few real questions live — one on eligibility, one on hostel facilities, so you can see the verified-answer path with its confidence score and matched dataset question. Then I'll deliberately ask something unusual and out of scope, so you can see the Groq fallback kick in and still return a helpful answer instead of an error. [Switch to the running application now.]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your time. To summarize — we built a working, hybrid NLP chatbot for college enquiries, moved from a contaminated multi-college dataset to a verified single-source one, added a Groq fallback for graceful degradation, and fixed real bugs like intent misrouting and vocabulary leakage along the way. I'm happy to take any questions now, on behalf of the whole team.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545"/>
          </a:solidFill>
          <a:ln/>
        </p:spPr>
      </p:sp>
      <p:sp>
        <p:nvSpPr>
          <p:cNvPr id="3" name="Shape 1"/>
          <p:cNvSpPr/>
          <p:nvPr/>
        </p:nvSpPr>
        <p:spPr>
          <a:xfrm>
            <a:off x="8869680" y="-2011680"/>
            <a:ext cx="6400800" cy="6400800"/>
          </a:xfrm>
          <a:prstGeom prst="ellipse">
            <a:avLst/>
          </a:prstGeom>
          <a:solidFill>
            <a:srgbClr val="028090">
              <a:alpha val="22000"/>
            </a:srgbClr>
          </a:solidFill>
          <a:ln/>
        </p:spPr>
      </p:sp>
      <p:sp>
        <p:nvSpPr>
          <p:cNvPr id="4" name="Shape 2"/>
          <p:cNvSpPr/>
          <p:nvPr/>
        </p:nvSpPr>
        <p:spPr>
          <a:xfrm>
            <a:off x="-2286000" y="4114800"/>
            <a:ext cx="5486400" cy="5486400"/>
          </a:xfrm>
          <a:prstGeom prst="ellipse">
            <a:avLst/>
          </a:prstGeom>
          <a:solidFill>
            <a:srgbClr val="00A896">
              <a:alpha val="18000"/>
            </a:srgbClr>
          </a:solidFill>
          <a:ln/>
        </p:spPr>
      </p:sp>
      <p:sp>
        <p:nvSpPr>
          <p:cNvPr id="5" name="Shape 3"/>
          <p:cNvSpPr/>
          <p:nvPr/>
        </p:nvSpPr>
        <p:spPr>
          <a:xfrm>
            <a:off x="822960" y="685800"/>
            <a:ext cx="777240" cy="777240"/>
          </a:xfrm>
          <a:prstGeom prst="ellipse">
            <a:avLst/>
          </a:prstGeom>
          <a:solidFill>
            <a:srgbClr val="028090"/>
          </a:solidFill>
          <a:ln/>
        </p:spPr>
      </p:sp>
      <p:pic>
        <p:nvPicPr>
          <p:cNvPr id="6" name="Image 0" descr="icons/robot.png"/>
          <p:cNvPicPr>
            <a:picLocks noChangeAspect="1"/>
          </p:cNvPicPr>
          <p:nvPr/>
        </p:nvPicPr>
        <p:blipFill>
          <a:blip r:embed="rId3"/>
          <a:stretch>
            <a:fillRect/>
          </a:stretch>
        </p:blipFill>
        <p:spPr>
          <a:xfrm>
            <a:off x="908456" y="771296"/>
            <a:ext cx="606247" cy="606247"/>
          </a:xfrm>
          <a:prstGeom prst="rect">
            <a:avLst/>
          </a:prstGeom>
        </p:spPr>
      </p:pic>
      <p:sp>
        <p:nvSpPr>
          <p:cNvPr id="7" name="Text 4"/>
          <p:cNvSpPr txBox="1"/>
          <p:nvPr/>
        </p:nvSpPr>
        <p:spPr>
          <a:xfrm>
            <a:off x="1737360" y="713232"/>
            <a:ext cx="3657600" cy="457200"/>
          </a:xfrm>
          <a:prstGeom prst="rect">
            <a:avLst/>
          </a:prstGeom>
          <a:noFill/>
          <a:ln/>
        </p:spPr>
        <p:txBody>
          <a:bodyPr wrap="square" lIns="0" tIns="0" rIns="0" bIns="0" rtlCol="0" anchor="ctr"/>
          <a:lstStyle/>
          <a:p>
            <a:pPr marL="0" indent="0">
              <a:buNone/>
            </a:pPr>
            <a:r>
              <a:rPr lang="en-US" sz="2000" b="1" dirty="0">
                <a:solidFill>
                  <a:srgbClr val="02C39A"/>
                </a:solidFill>
                <a:latin typeface="Cambria" pitchFamily="34" charset="0"/>
                <a:ea typeface="Cambria" pitchFamily="34" charset="-122"/>
                <a:cs typeface="Cambria" pitchFamily="34" charset="-120"/>
              </a:rPr>
              <a:t>ATHENURA</a:t>
            </a:r>
            <a:endParaRPr lang="en-US" sz="2000" dirty="0"/>
          </a:p>
        </p:txBody>
      </p:sp>
      <p:sp>
        <p:nvSpPr>
          <p:cNvPr id="8" name="Text 5"/>
          <p:cNvSpPr txBox="1"/>
          <p:nvPr/>
        </p:nvSpPr>
        <p:spPr>
          <a:xfrm>
            <a:off x="1737360" y="1078992"/>
            <a:ext cx="3657600" cy="274320"/>
          </a:xfrm>
          <a:prstGeom prst="rect">
            <a:avLst/>
          </a:prstGeom>
          <a:noFill/>
          <a:ln/>
        </p:spPr>
        <p:txBody>
          <a:bodyPr wrap="square" lIns="0" tIns="0" rIns="0" bIns="0" rtlCol="0" anchor="ctr"/>
          <a:lstStyle/>
          <a:p>
            <a:pPr marL="0" indent="0">
              <a:buNone/>
            </a:pPr>
            <a:r>
              <a:rPr lang="en-US" sz="1100" i="1" dirty="0">
                <a:solidFill>
                  <a:srgbClr val="9FC6C9"/>
                </a:solidFill>
                <a:latin typeface="Calibri" pitchFamily="34" charset="0"/>
                <a:ea typeface="Calibri" pitchFamily="34" charset="-122"/>
                <a:cs typeface="Calibri" pitchFamily="34" charset="-120"/>
              </a:rPr>
              <a:t>Code. Create. Innovate.</a:t>
            </a:r>
            <a:endParaRPr lang="en-US" sz="1100" dirty="0"/>
          </a:p>
        </p:txBody>
      </p:sp>
      <p:sp>
        <p:nvSpPr>
          <p:cNvPr id="9" name="Text 6"/>
          <p:cNvSpPr txBox="1"/>
          <p:nvPr/>
        </p:nvSpPr>
        <p:spPr>
          <a:xfrm>
            <a:off x="822960" y="2514600"/>
            <a:ext cx="10515600" cy="91440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Chatbot for College Enquiry System</a:t>
            </a:r>
            <a:endParaRPr lang="en-US" sz="4200" dirty="0"/>
          </a:p>
        </p:txBody>
      </p:sp>
      <p:sp>
        <p:nvSpPr>
          <p:cNvPr id="10" name="Text 7"/>
          <p:cNvSpPr txBox="1"/>
          <p:nvPr/>
        </p:nvSpPr>
        <p:spPr>
          <a:xfrm>
            <a:off x="822960" y="3246120"/>
            <a:ext cx="10515600" cy="548640"/>
          </a:xfrm>
          <a:prstGeom prst="rect">
            <a:avLst/>
          </a:prstGeom>
          <a:noFill/>
          <a:ln/>
        </p:spPr>
        <p:txBody>
          <a:bodyPr wrap="square" lIns="0" tIns="0" rIns="0" bIns="0" rtlCol="0" anchor="ctr"/>
          <a:lstStyle/>
          <a:p>
            <a:pPr marL="0" indent="0">
              <a:buNone/>
            </a:pPr>
            <a:r>
              <a:rPr lang="en-US" sz="2200" dirty="0">
                <a:solidFill>
                  <a:srgbClr val="02C39A"/>
                </a:solidFill>
                <a:latin typeface="Calibri" pitchFamily="34" charset="0"/>
                <a:ea typeface="Calibri" pitchFamily="34" charset="-122"/>
                <a:cs typeface="Calibri" pitchFamily="34" charset="-120"/>
              </a:rPr>
              <a:t>using Natural Language Processing (NLP)</a:t>
            </a:r>
            <a:endParaRPr lang="en-US" sz="2200" dirty="0"/>
          </a:p>
        </p:txBody>
      </p:sp>
      <p:sp>
        <p:nvSpPr>
          <p:cNvPr id="11" name="Shape 8"/>
          <p:cNvSpPr/>
          <p:nvPr/>
        </p:nvSpPr>
        <p:spPr>
          <a:xfrm>
            <a:off x="822960" y="4023360"/>
            <a:ext cx="2926080" cy="0"/>
          </a:xfrm>
          <a:prstGeom prst="line">
            <a:avLst/>
          </a:prstGeom>
          <a:noFill/>
          <a:ln w="25400">
            <a:solidFill>
              <a:srgbClr val="00A896"/>
            </a:solidFill>
            <a:prstDash val="solid"/>
          </a:ln>
        </p:spPr>
      </p:sp>
      <p:sp>
        <p:nvSpPr>
          <p:cNvPr id="12" name="Text 9"/>
          <p:cNvSpPr txBox="1"/>
          <p:nvPr/>
        </p:nvSpPr>
        <p:spPr>
          <a:xfrm>
            <a:off x="822960" y="4251960"/>
            <a:ext cx="5486400" cy="320040"/>
          </a:xfrm>
          <a:prstGeom prst="rect">
            <a:avLst/>
          </a:prstGeom>
          <a:noFill/>
          <a:ln/>
        </p:spPr>
        <p:txBody>
          <a:bodyPr wrap="square" lIns="0" tIns="0" rIns="0" bIns="0" rtlCol="0" anchor="ctr"/>
          <a:lstStyle/>
          <a:p>
            <a:pPr marL="0" indent="0">
              <a:buNone/>
            </a:pPr>
            <a:r>
              <a:rPr lang="en-US" sz="1400" dirty="0">
                <a:solidFill>
                  <a:srgbClr val="9FC6C9"/>
                </a:solidFill>
                <a:latin typeface="Calibri" pitchFamily="34" charset="0"/>
                <a:ea typeface="Calibri" pitchFamily="34" charset="-122"/>
                <a:cs typeface="Calibri" pitchFamily="34" charset="-120"/>
              </a:rPr>
              <a:t>Data Science &amp; Analytics Team</a:t>
            </a:r>
            <a:endParaRPr lang="en-US" sz="1400" dirty="0"/>
          </a:p>
        </p:txBody>
      </p:sp>
      <p:sp>
        <p:nvSpPr>
          <p:cNvPr id="13" name="Text 10"/>
          <p:cNvSpPr txBox="1"/>
          <p:nvPr/>
        </p:nvSpPr>
        <p:spPr>
          <a:xfrm>
            <a:off x="822960" y="4617720"/>
            <a:ext cx="731520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Team Lead: Kumpati Kezia Jeshura</a:t>
            </a:r>
            <a:endParaRPr lang="en-US" sz="2000" dirty="0"/>
          </a:p>
        </p:txBody>
      </p:sp>
      <p:sp>
        <p:nvSpPr>
          <p:cNvPr id="14" name="Text 11"/>
          <p:cNvSpPr txBox="1"/>
          <p:nvPr/>
        </p:nvSpPr>
        <p:spPr>
          <a:xfrm>
            <a:off x="822960" y="5074920"/>
            <a:ext cx="7315200" cy="320040"/>
          </a:xfrm>
          <a:prstGeom prst="rect">
            <a:avLst/>
          </a:prstGeom>
          <a:noFill/>
          <a:ln/>
        </p:spPr>
        <p:txBody>
          <a:bodyPr wrap="square" lIns="0" tIns="0" rIns="0" bIns="0" rtlCol="0" anchor="ctr"/>
          <a:lstStyle/>
          <a:p>
            <a:pPr marL="0" indent="0">
              <a:buNone/>
            </a:pPr>
            <a:r>
              <a:rPr lang="en-US" dirty="0">
                <a:solidFill>
                  <a:srgbClr val="9FC6C9"/>
                </a:solidFill>
                <a:latin typeface="Calibri" pitchFamily="34" charset="0"/>
                <a:ea typeface="Calibri" pitchFamily="34" charset="-122"/>
                <a:cs typeface="Calibri" pitchFamily="34" charset="-120"/>
              </a:rPr>
              <a:t>Team Members:</a:t>
            </a:r>
            <a:endParaRPr lang="en-US" dirty="0"/>
          </a:p>
        </p:txBody>
      </p:sp>
      <p:sp>
        <p:nvSpPr>
          <p:cNvPr id="15" name="Text 12"/>
          <p:cNvSpPr txBox="1"/>
          <p:nvPr/>
        </p:nvSpPr>
        <p:spPr>
          <a:xfrm>
            <a:off x="777240" y="5486400"/>
            <a:ext cx="10515600" cy="365760"/>
          </a:xfrm>
          <a:prstGeom prst="rect">
            <a:avLst/>
          </a:prstGeom>
          <a:noFill/>
          <a:ln/>
        </p:spPr>
        <p:txBody>
          <a:bodyPr wrap="square" lIns="0" tIns="0" rIns="0" bIns="0" rtlCol="0" anchor="ctr"/>
          <a:lstStyle/>
          <a:p>
            <a:pPr marL="0" indent="0">
              <a:buNone/>
            </a:pPr>
            <a:r>
              <a:rPr lang="en-US" sz="1600" b="1" dirty="0">
                <a:solidFill>
                  <a:srgbClr val="5C7A85"/>
                </a:solidFill>
                <a:latin typeface="Calibri" pitchFamily="34" charset="0"/>
                <a:ea typeface="Calibri" pitchFamily="34" charset="-122"/>
                <a:cs typeface="Calibri" pitchFamily="34" charset="-120"/>
              </a:rPr>
              <a:t>Abhishek Chitriv  •  Poorva  •  Pratiksha Das  •  Maksud Mirza  •  Shagil Shaik  •  Waseem Khan</a:t>
            </a:r>
            <a:endParaRPr lang="en-US" sz="1600" b="1"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6"/>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10789920" cy="640080"/>
          </a:xfrm>
          <a:prstGeom prst="rect">
            <a:avLst/>
          </a:prstGeom>
          <a:noFill/>
        </p:spPr>
        <p:txBody>
          <a:bodyPr wrap="none">
            <a:spAutoFit/>
          </a:bodyPr>
          <a:lstStyle/>
          <a:p>
            <a:pPr>
              <a:defRPr sz="2800" b="1">
                <a:solidFill>
                  <a:srgbClr val="FFFFFF"/>
                </a:solidFill>
              </a:defRPr>
            </a:pPr>
            <a:r>
              <a:t>CONTENTS</a:t>
            </a:r>
          </a:p>
        </p:txBody>
      </p:sp>
      <p:sp>
        <p:nvSpPr>
          <p:cNvPr id="3" name="TextBox 2"/>
          <p:cNvSpPr txBox="1"/>
          <p:nvPr/>
        </p:nvSpPr>
        <p:spPr>
          <a:xfrm>
            <a:off x="749808" y="1097280"/>
            <a:ext cx="10058400" cy="365760"/>
          </a:xfrm>
          <a:prstGeom prst="rect">
            <a:avLst/>
          </a:prstGeom>
          <a:noFill/>
        </p:spPr>
        <p:txBody>
          <a:bodyPr wrap="none">
            <a:spAutoFit/>
          </a:bodyPr>
          <a:lstStyle/>
          <a:p>
            <a:pPr>
              <a:defRPr sz="1400">
                <a:solidFill>
                  <a:srgbClr val="B4B4B4"/>
                </a:solidFill>
              </a:defRPr>
            </a:pPr>
            <a:r>
              <a:t>Chatbot for College Enquiry System</a:t>
            </a:r>
          </a:p>
        </p:txBody>
      </p:sp>
      <p:sp>
        <p:nvSpPr>
          <p:cNvPr id="4" name="TextBox 3"/>
          <p:cNvSpPr txBox="1"/>
          <p:nvPr/>
        </p:nvSpPr>
        <p:spPr>
          <a:xfrm>
            <a:off x="777240" y="1691640"/>
            <a:ext cx="502920" cy="320040"/>
          </a:xfrm>
          <a:prstGeom prst="rect">
            <a:avLst/>
          </a:prstGeom>
          <a:noFill/>
        </p:spPr>
        <p:txBody>
          <a:bodyPr wrap="none">
            <a:spAutoFit/>
          </a:bodyPr>
          <a:lstStyle/>
          <a:p>
            <a:pPr>
              <a:defRPr sz="1100" b="1">
                <a:solidFill>
                  <a:srgbClr val="969696"/>
                </a:solidFill>
              </a:defRPr>
            </a:pPr>
            <a:r>
              <a:t>01</a:t>
            </a:r>
          </a:p>
        </p:txBody>
      </p:sp>
      <p:sp>
        <p:nvSpPr>
          <p:cNvPr id="5" name="TextBox 4"/>
          <p:cNvSpPr txBox="1"/>
          <p:nvPr/>
        </p:nvSpPr>
        <p:spPr>
          <a:xfrm>
            <a:off x="1344168" y="3451860"/>
            <a:ext cx="4480560" cy="411480"/>
          </a:xfrm>
          <a:prstGeom prst="rect">
            <a:avLst/>
          </a:prstGeom>
          <a:noFill/>
        </p:spPr>
        <p:txBody>
          <a:bodyPr wrap="none">
            <a:spAutoFit/>
          </a:bodyPr>
          <a:lstStyle/>
          <a:p>
            <a:pPr>
              <a:defRPr sz="1400">
                <a:solidFill>
                  <a:srgbClr val="F5F5F5"/>
                </a:solidFill>
              </a:defRPr>
            </a:pPr>
            <a:r>
              <a:rPr dirty="0"/>
              <a:t>Team Structure</a:t>
            </a:r>
          </a:p>
        </p:txBody>
      </p:sp>
      <p:sp>
        <p:nvSpPr>
          <p:cNvPr id="6" name="TextBox 5"/>
          <p:cNvSpPr txBox="1"/>
          <p:nvPr/>
        </p:nvSpPr>
        <p:spPr>
          <a:xfrm>
            <a:off x="777240" y="2267712"/>
            <a:ext cx="502920" cy="320040"/>
          </a:xfrm>
          <a:prstGeom prst="rect">
            <a:avLst/>
          </a:prstGeom>
          <a:noFill/>
        </p:spPr>
        <p:txBody>
          <a:bodyPr wrap="none">
            <a:spAutoFit/>
          </a:bodyPr>
          <a:lstStyle/>
          <a:p>
            <a:pPr>
              <a:defRPr sz="1100" b="1">
                <a:solidFill>
                  <a:srgbClr val="969696"/>
                </a:solidFill>
              </a:defRPr>
            </a:pPr>
            <a:r>
              <a:t>02</a:t>
            </a:r>
          </a:p>
        </p:txBody>
      </p:sp>
      <p:sp>
        <p:nvSpPr>
          <p:cNvPr id="7" name="TextBox 6"/>
          <p:cNvSpPr txBox="1"/>
          <p:nvPr/>
        </p:nvSpPr>
        <p:spPr>
          <a:xfrm>
            <a:off x="1417320" y="1719794"/>
            <a:ext cx="4480560" cy="411480"/>
          </a:xfrm>
          <a:prstGeom prst="rect">
            <a:avLst/>
          </a:prstGeom>
          <a:noFill/>
        </p:spPr>
        <p:txBody>
          <a:bodyPr wrap="none">
            <a:spAutoFit/>
          </a:bodyPr>
          <a:lstStyle/>
          <a:p>
            <a:pPr>
              <a:defRPr sz="1400">
                <a:solidFill>
                  <a:srgbClr val="F5F5F5"/>
                </a:solidFill>
              </a:defRPr>
            </a:pPr>
            <a:r>
              <a:rPr dirty="0"/>
              <a:t>The Problem</a:t>
            </a:r>
          </a:p>
        </p:txBody>
      </p:sp>
      <p:sp>
        <p:nvSpPr>
          <p:cNvPr id="8" name="TextBox 7"/>
          <p:cNvSpPr txBox="1"/>
          <p:nvPr/>
        </p:nvSpPr>
        <p:spPr>
          <a:xfrm>
            <a:off x="777240" y="2843784"/>
            <a:ext cx="502920" cy="320040"/>
          </a:xfrm>
          <a:prstGeom prst="rect">
            <a:avLst/>
          </a:prstGeom>
          <a:noFill/>
        </p:spPr>
        <p:txBody>
          <a:bodyPr wrap="none">
            <a:spAutoFit/>
          </a:bodyPr>
          <a:lstStyle/>
          <a:p>
            <a:pPr>
              <a:defRPr sz="1100" b="1">
                <a:solidFill>
                  <a:srgbClr val="969696"/>
                </a:solidFill>
              </a:defRPr>
            </a:pPr>
            <a:r>
              <a:t>03</a:t>
            </a:r>
          </a:p>
        </p:txBody>
      </p:sp>
      <p:sp>
        <p:nvSpPr>
          <p:cNvPr id="9" name="TextBox 8"/>
          <p:cNvSpPr txBox="1"/>
          <p:nvPr/>
        </p:nvSpPr>
        <p:spPr>
          <a:xfrm>
            <a:off x="1417320" y="2221992"/>
            <a:ext cx="4480560" cy="411480"/>
          </a:xfrm>
          <a:prstGeom prst="rect">
            <a:avLst/>
          </a:prstGeom>
          <a:noFill/>
        </p:spPr>
        <p:txBody>
          <a:bodyPr wrap="none">
            <a:spAutoFit/>
          </a:bodyPr>
          <a:lstStyle/>
          <a:p>
            <a:pPr>
              <a:defRPr sz="1400">
                <a:solidFill>
                  <a:srgbClr val="F5F5F5"/>
                </a:solidFill>
              </a:defRPr>
            </a:pPr>
            <a:r>
              <a:rPr dirty="0"/>
              <a:t>Objectives</a:t>
            </a:r>
          </a:p>
        </p:txBody>
      </p:sp>
      <p:sp>
        <p:nvSpPr>
          <p:cNvPr id="10" name="TextBox 9"/>
          <p:cNvSpPr txBox="1"/>
          <p:nvPr/>
        </p:nvSpPr>
        <p:spPr>
          <a:xfrm>
            <a:off x="777240" y="3419856"/>
            <a:ext cx="502920" cy="320040"/>
          </a:xfrm>
          <a:prstGeom prst="rect">
            <a:avLst/>
          </a:prstGeom>
          <a:noFill/>
        </p:spPr>
        <p:txBody>
          <a:bodyPr wrap="none">
            <a:spAutoFit/>
          </a:bodyPr>
          <a:lstStyle/>
          <a:p>
            <a:pPr>
              <a:defRPr sz="1100" b="1">
                <a:solidFill>
                  <a:srgbClr val="969696"/>
                </a:solidFill>
              </a:defRPr>
            </a:pPr>
            <a:r>
              <a:t>04</a:t>
            </a:r>
          </a:p>
        </p:txBody>
      </p:sp>
      <p:sp>
        <p:nvSpPr>
          <p:cNvPr id="11" name="TextBox 10"/>
          <p:cNvSpPr txBox="1"/>
          <p:nvPr/>
        </p:nvSpPr>
        <p:spPr>
          <a:xfrm>
            <a:off x="1344168" y="2843784"/>
            <a:ext cx="4480560" cy="411480"/>
          </a:xfrm>
          <a:prstGeom prst="rect">
            <a:avLst/>
          </a:prstGeom>
          <a:noFill/>
        </p:spPr>
        <p:txBody>
          <a:bodyPr wrap="none">
            <a:spAutoFit/>
          </a:bodyPr>
          <a:lstStyle/>
          <a:p>
            <a:pPr>
              <a:defRPr sz="1400">
                <a:solidFill>
                  <a:srgbClr val="F5F5F5"/>
                </a:solidFill>
              </a:defRPr>
            </a:pPr>
            <a:r>
              <a:rPr dirty="0"/>
              <a:t>System Design</a:t>
            </a:r>
          </a:p>
        </p:txBody>
      </p:sp>
      <p:sp>
        <p:nvSpPr>
          <p:cNvPr id="12" name="TextBox 11"/>
          <p:cNvSpPr txBox="1"/>
          <p:nvPr/>
        </p:nvSpPr>
        <p:spPr>
          <a:xfrm>
            <a:off x="777240" y="3995928"/>
            <a:ext cx="502920" cy="320040"/>
          </a:xfrm>
          <a:prstGeom prst="rect">
            <a:avLst/>
          </a:prstGeom>
          <a:noFill/>
        </p:spPr>
        <p:txBody>
          <a:bodyPr wrap="none">
            <a:spAutoFit/>
          </a:bodyPr>
          <a:lstStyle/>
          <a:p>
            <a:pPr>
              <a:defRPr sz="1100" b="1">
                <a:solidFill>
                  <a:srgbClr val="969696"/>
                </a:solidFill>
              </a:defRPr>
            </a:pPr>
            <a:r>
              <a:t>05</a:t>
            </a:r>
          </a:p>
        </p:txBody>
      </p:sp>
      <p:sp>
        <p:nvSpPr>
          <p:cNvPr id="13" name="TextBox 12"/>
          <p:cNvSpPr txBox="1"/>
          <p:nvPr/>
        </p:nvSpPr>
        <p:spPr>
          <a:xfrm>
            <a:off x="1344168" y="3977640"/>
            <a:ext cx="4480560" cy="411480"/>
          </a:xfrm>
          <a:prstGeom prst="rect">
            <a:avLst/>
          </a:prstGeom>
          <a:noFill/>
        </p:spPr>
        <p:txBody>
          <a:bodyPr wrap="none">
            <a:spAutoFit/>
          </a:bodyPr>
          <a:lstStyle/>
          <a:p>
            <a:pPr>
              <a:defRPr sz="1400">
                <a:solidFill>
                  <a:srgbClr val="F5F5F5"/>
                </a:solidFill>
              </a:defRPr>
            </a:pPr>
            <a:r>
              <a:t>Dataset Preparation &amp; Cleaning</a:t>
            </a:r>
          </a:p>
        </p:txBody>
      </p:sp>
      <p:sp>
        <p:nvSpPr>
          <p:cNvPr id="14" name="TextBox 13"/>
          <p:cNvSpPr txBox="1"/>
          <p:nvPr/>
        </p:nvSpPr>
        <p:spPr>
          <a:xfrm>
            <a:off x="777240" y="4572000"/>
            <a:ext cx="502920" cy="320040"/>
          </a:xfrm>
          <a:prstGeom prst="rect">
            <a:avLst/>
          </a:prstGeom>
          <a:noFill/>
        </p:spPr>
        <p:txBody>
          <a:bodyPr wrap="none">
            <a:spAutoFit/>
          </a:bodyPr>
          <a:lstStyle/>
          <a:p>
            <a:pPr>
              <a:defRPr sz="1100" b="1">
                <a:solidFill>
                  <a:srgbClr val="969696"/>
                </a:solidFill>
              </a:defRPr>
            </a:pPr>
            <a:r>
              <a:t>06</a:t>
            </a:r>
          </a:p>
        </p:txBody>
      </p:sp>
      <p:sp>
        <p:nvSpPr>
          <p:cNvPr id="15" name="TextBox 14"/>
          <p:cNvSpPr txBox="1"/>
          <p:nvPr/>
        </p:nvSpPr>
        <p:spPr>
          <a:xfrm>
            <a:off x="1344168" y="4553712"/>
            <a:ext cx="4480560" cy="411480"/>
          </a:xfrm>
          <a:prstGeom prst="rect">
            <a:avLst/>
          </a:prstGeom>
          <a:noFill/>
        </p:spPr>
        <p:txBody>
          <a:bodyPr wrap="none">
            <a:spAutoFit/>
          </a:bodyPr>
          <a:lstStyle/>
          <a:p>
            <a:pPr>
              <a:defRPr sz="1400">
                <a:solidFill>
                  <a:srgbClr val="F5F5F5"/>
                </a:solidFill>
              </a:defRPr>
            </a:pPr>
            <a:r>
              <a:t>ML Pipeline &amp; Model Files</a:t>
            </a:r>
          </a:p>
        </p:txBody>
      </p:sp>
      <p:sp>
        <p:nvSpPr>
          <p:cNvPr id="16" name="TextBox 15"/>
          <p:cNvSpPr txBox="1"/>
          <p:nvPr/>
        </p:nvSpPr>
        <p:spPr>
          <a:xfrm>
            <a:off x="777240" y="5148072"/>
            <a:ext cx="502920" cy="320040"/>
          </a:xfrm>
          <a:prstGeom prst="rect">
            <a:avLst/>
          </a:prstGeom>
          <a:noFill/>
        </p:spPr>
        <p:txBody>
          <a:bodyPr wrap="none">
            <a:spAutoFit/>
          </a:bodyPr>
          <a:lstStyle/>
          <a:p>
            <a:pPr>
              <a:defRPr sz="1100" b="1">
                <a:solidFill>
                  <a:srgbClr val="969696"/>
                </a:solidFill>
              </a:defRPr>
            </a:pPr>
            <a:r>
              <a:t>07</a:t>
            </a:r>
          </a:p>
        </p:txBody>
      </p:sp>
      <p:sp>
        <p:nvSpPr>
          <p:cNvPr id="17" name="TextBox 16"/>
          <p:cNvSpPr txBox="1"/>
          <p:nvPr/>
        </p:nvSpPr>
        <p:spPr>
          <a:xfrm>
            <a:off x="1344168" y="5129784"/>
            <a:ext cx="4480560" cy="411480"/>
          </a:xfrm>
          <a:prstGeom prst="rect">
            <a:avLst/>
          </a:prstGeom>
          <a:noFill/>
        </p:spPr>
        <p:txBody>
          <a:bodyPr wrap="none">
            <a:spAutoFit/>
          </a:bodyPr>
          <a:lstStyle/>
          <a:p>
            <a:pPr>
              <a:defRPr sz="1400">
                <a:solidFill>
                  <a:srgbClr val="F5F5F5"/>
                </a:solidFill>
              </a:defRPr>
            </a:pPr>
            <a:r>
              <a:t>Chatbot Interface &amp; Integration</a:t>
            </a:r>
          </a:p>
        </p:txBody>
      </p:sp>
      <p:sp>
        <p:nvSpPr>
          <p:cNvPr id="18" name="TextBox 17"/>
          <p:cNvSpPr txBox="1"/>
          <p:nvPr/>
        </p:nvSpPr>
        <p:spPr>
          <a:xfrm>
            <a:off x="5897880" y="1691640"/>
            <a:ext cx="502920" cy="320040"/>
          </a:xfrm>
          <a:prstGeom prst="rect">
            <a:avLst/>
          </a:prstGeom>
          <a:noFill/>
        </p:spPr>
        <p:txBody>
          <a:bodyPr wrap="none">
            <a:spAutoFit/>
          </a:bodyPr>
          <a:lstStyle/>
          <a:p>
            <a:pPr>
              <a:defRPr sz="1100" b="1">
                <a:solidFill>
                  <a:srgbClr val="969696"/>
                </a:solidFill>
              </a:defRPr>
            </a:pPr>
            <a:r>
              <a:t>08</a:t>
            </a:r>
          </a:p>
        </p:txBody>
      </p:sp>
      <p:sp>
        <p:nvSpPr>
          <p:cNvPr id="19" name="TextBox 18"/>
          <p:cNvSpPr txBox="1"/>
          <p:nvPr/>
        </p:nvSpPr>
        <p:spPr>
          <a:xfrm>
            <a:off x="6464808" y="1673352"/>
            <a:ext cx="4480560" cy="411480"/>
          </a:xfrm>
          <a:prstGeom prst="rect">
            <a:avLst/>
          </a:prstGeom>
          <a:noFill/>
        </p:spPr>
        <p:txBody>
          <a:bodyPr wrap="none">
            <a:spAutoFit/>
          </a:bodyPr>
          <a:lstStyle/>
          <a:p>
            <a:pPr>
              <a:defRPr sz="1400">
                <a:solidFill>
                  <a:srgbClr val="F5F5F5"/>
                </a:solidFill>
              </a:defRPr>
            </a:pPr>
            <a:r>
              <a:t>Debugging &amp; Fixes</a:t>
            </a:r>
          </a:p>
        </p:txBody>
      </p:sp>
      <p:sp>
        <p:nvSpPr>
          <p:cNvPr id="20" name="TextBox 19"/>
          <p:cNvSpPr txBox="1"/>
          <p:nvPr/>
        </p:nvSpPr>
        <p:spPr>
          <a:xfrm>
            <a:off x="5897880" y="2267712"/>
            <a:ext cx="502920" cy="320040"/>
          </a:xfrm>
          <a:prstGeom prst="rect">
            <a:avLst/>
          </a:prstGeom>
          <a:noFill/>
        </p:spPr>
        <p:txBody>
          <a:bodyPr wrap="none">
            <a:spAutoFit/>
          </a:bodyPr>
          <a:lstStyle/>
          <a:p>
            <a:pPr>
              <a:defRPr sz="1100" b="1">
                <a:solidFill>
                  <a:srgbClr val="969696"/>
                </a:solidFill>
              </a:defRPr>
            </a:pPr>
            <a:r>
              <a:t>09</a:t>
            </a:r>
          </a:p>
        </p:txBody>
      </p:sp>
      <p:sp>
        <p:nvSpPr>
          <p:cNvPr id="21" name="TextBox 20"/>
          <p:cNvSpPr txBox="1"/>
          <p:nvPr/>
        </p:nvSpPr>
        <p:spPr>
          <a:xfrm>
            <a:off x="6464808" y="2249424"/>
            <a:ext cx="4480560" cy="411480"/>
          </a:xfrm>
          <a:prstGeom prst="rect">
            <a:avLst/>
          </a:prstGeom>
          <a:noFill/>
        </p:spPr>
        <p:txBody>
          <a:bodyPr wrap="none">
            <a:spAutoFit/>
          </a:bodyPr>
          <a:lstStyle/>
          <a:p>
            <a:pPr>
              <a:defRPr sz="1400">
                <a:solidFill>
                  <a:srgbClr val="F5F5F5"/>
                </a:solidFill>
              </a:defRPr>
            </a:pPr>
            <a:r>
              <a:t>Tech Stack</a:t>
            </a:r>
          </a:p>
        </p:txBody>
      </p:sp>
      <p:sp>
        <p:nvSpPr>
          <p:cNvPr id="22" name="TextBox 21"/>
          <p:cNvSpPr txBox="1"/>
          <p:nvPr/>
        </p:nvSpPr>
        <p:spPr>
          <a:xfrm>
            <a:off x="5897880" y="2843784"/>
            <a:ext cx="502920" cy="320040"/>
          </a:xfrm>
          <a:prstGeom prst="rect">
            <a:avLst/>
          </a:prstGeom>
          <a:noFill/>
        </p:spPr>
        <p:txBody>
          <a:bodyPr wrap="none">
            <a:spAutoFit/>
          </a:bodyPr>
          <a:lstStyle/>
          <a:p>
            <a:pPr>
              <a:defRPr sz="1100" b="1">
                <a:solidFill>
                  <a:srgbClr val="969696"/>
                </a:solidFill>
              </a:defRPr>
            </a:pPr>
            <a:r>
              <a:t>10</a:t>
            </a:r>
          </a:p>
        </p:txBody>
      </p:sp>
      <p:sp>
        <p:nvSpPr>
          <p:cNvPr id="23" name="TextBox 22"/>
          <p:cNvSpPr txBox="1"/>
          <p:nvPr/>
        </p:nvSpPr>
        <p:spPr>
          <a:xfrm>
            <a:off x="6464808" y="2825496"/>
            <a:ext cx="4480560" cy="411480"/>
          </a:xfrm>
          <a:prstGeom prst="rect">
            <a:avLst/>
          </a:prstGeom>
          <a:noFill/>
        </p:spPr>
        <p:txBody>
          <a:bodyPr wrap="none">
            <a:spAutoFit/>
          </a:bodyPr>
          <a:lstStyle/>
          <a:p>
            <a:pPr>
              <a:defRPr sz="1400">
                <a:solidFill>
                  <a:srgbClr val="F5F5F5"/>
                </a:solidFill>
              </a:defRPr>
            </a:pPr>
            <a:r>
              <a:t>Results</a:t>
            </a:r>
          </a:p>
        </p:txBody>
      </p:sp>
      <p:sp>
        <p:nvSpPr>
          <p:cNvPr id="24" name="TextBox 23"/>
          <p:cNvSpPr txBox="1"/>
          <p:nvPr/>
        </p:nvSpPr>
        <p:spPr>
          <a:xfrm>
            <a:off x="5897880" y="3419856"/>
            <a:ext cx="502920" cy="320040"/>
          </a:xfrm>
          <a:prstGeom prst="rect">
            <a:avLst/>
          </a:prstGeom>
          <a:noFill/>
        </p:spPr>
        <p:txBody>
          <a:bodyPr wrap="none">
            <a:spAutoFit/>
          </a:bodyPr>
          <a:lstStyle/>
          <a:p>
            <a:pPr>
              <a:defRPr sz="1100" b="1">
                <a:solidFill>
                  <a:srgbClr val="969696"/>
                </a:solidFill>
              </a:defRPr>
            </a:pPr>
            <a:r>
              <a:t>11</a:t>
            </a:r>
          </a:p>
        </p:txBody>
      </p:sp>
      <p:sp>
        <p:nvSpPr>
          <p:cNvPr id="25" name="TextBox 24"/>
          <p:cNvSpPr txBox="1"/>
          <p:nvPr/>
        </p:nvSpPr>
        <p:spPr>
          <a:xfrm>
            <a:off x="6464808" y="3401568"/>
            <a:ext cx="4480560" cy="411480"/>
          </a:xfrm>
          <a:prstGeom prst="rect">
            <a:avLst/>
          </a:prstGeom>
          <a:noFill/>
        </p:spPr>
        <p:txBody>
          <a:bodyPr wrap="none">
            <a:spAutoFit/>
          </a:bodyPr>
          <a:lstStyle/>
          <a:p>
            <a:pPr>
              <a:defRPr sz="1400">
                <a:solidFill>
                  <a:srgbClr val="F5F5F5"/>
                </a:solidFill>
              </a:defRPr>
            </a:pPr>
            <a:r>
              <a:t>Future Scope</a:t>
            </a:r>
          </a:p>
        </p:txBody>
      </p:sp>
      <p:sp>
        <p:nvSpPr>
          <p:cNvPr id="26" name="TextBox 25"/>
          <p:cNvSpPr txBox="1"/>
          <p:nvPr/>
        </p:nvSpPr>
        <p:spPr>
          <a:xfrm>
            <a:off x="5897880" y="3995928"/>
            <a:ext cx="502920" cy="320040"/>
          </a:xfrm>
          <a:prstGeom prst="rect">
            <a:avLst/>
          </a:prstGeom>
          <a:noFill/>
        </p:spPr>
        <p:txBody>
          <a:bodyPr wrap="none">
            <a:spAutoFit/>
          </a:bodyPr>
          <a:lstStyle/>
          <a:p>
            <a:pPr>
              <a:defRPr sz="1100" b="1">
                <a:solidFill>
                  <a:srgbClr val="969696"/>
                </a:solidFill>
              </a:defRPr>
            </a:pPr>
            <a:r>
              <a:t>12</a:t>
            </a:r>
          </a:p>
        </p:txBody>
      </p:sp>
      <p:sp>
        <p:nvSpPr>
          <p:cNvPr id="27" name="TextBox 26"/>
          <p:cNvSpPr txBox="1"/>
          <p:nvPr/>
        </p:nvSpPr>
        <p:spPr>
          <a:xfrm>
            <a:off x="6464808" y="3977640"/>
            <a:ext cx="4480560" cy="411480"/>
          </a:xfrm>
          <a:prstGeom prst="rect">
            <a:avLst/>
          </a:prstGeom>
          <a:noFill/>
        </p:spPr>
        <p:txBody>
          <a:bodyPr wrap="none">
            <a:spAutoFit/>
          </a:bodyPr>
          <a:lstStyle/>
          <a:p>
            <a:pPr>
              <a:defRPr sz="1400">
                <a:solidFill>
                  <a:srgbClr val="F5F5F5"/>
                </a:solidFill>
              </a:defRPr>
            </a:pPr>
            <a:r>
              <a:t>Live Demo</a:t>
            </a:r>
          </a:p>
        </p:txBody>
      </p:sp>
      <p:sp>
        <p:nvSpPr>
          <p:cNvPr id="28" name="TextBox 27"/>
          <p:cNvSpPr txBox="1"/>
          <p:nvPr/>
        </p:nvSpPr>
        <p:spPr>
          <a:xfrm>
            <a:off x="5897880" y="4572000"/>
            <a:ext cx="502920" cy="320040"/>
          </a:xfrm>
          <a:prstGeom prst="rect">
            <a:avLst/>
          </a:prstGeom>
          <a:noFill/>
        </p:spPr>
        <p:txBody>
          <a:bodyPr wrap="none">
            <a:spAutoFit/>
          </a:bodyPr>
          <a:lstStyle/>
          <a:p>
            <a:pPr>
              <a:defRPr sz="1100" b="1">
                <a:solidFill>
                  <a:srgbClr val="969696"/>
                </a:solidFill>
              </a:defRPr>
            </a:pPr>
            <a:r>
              <a:t>13</a:t>
            </a:r>
          </a:p>
        </p:txBody>
      </p:sp>
      <p:sp>
        <p:nvSpPr>
          <p:cNvPr id="29" name="TextBox 28"/>
          <p:cNvSpPr txBox="1"/>
          <p:nvPr/>
        </p:nvSpPr>
        <p:spPr>
          <a:xfrm>
            <a:off x="6464808" y="4553712"/>
            <a:ext cx="4480560" cy="411480"/>
          </a:xfrm>
          <a:prstGeom prst="rect">
            <a:avLst/>
          </a:prstGeom>
          <a:noFill/>
        </p:spPr>
        <p:txBody>
          <a:bodyPr wrap="none">
            <a:spAutoFit/>
          </a:bodyPr>
          <a:lstStyle/>
          <a:p>
            <a:pPr>
              <a:defRPr sz="1400">
                <a:solidFill>
                  <a:srgbClr val="F5F5F5"/>
                </a:solidFill>
              </a:defRPr>
            </a:pPr>
            <a:r>
              <a:t>Thank You / Questions &amp; Discussion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2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22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22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22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22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22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22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22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22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22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22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220"/>
                                        <p:tgtEl>
                                          <p:spTgt spid="24"/>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22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220"/>
                                        <p:tgtEl>
                                          <p:spTgt spid="26"/>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220"/>
                                        <p:tgtEl>
                                          <p:spTgt spid="27"/>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220"/>
                                        <p:tgtEl>
                                          <p:spTgt spid="28"/>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22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685800"/>
            <a:ext cx="8229600" cy="548640"/>
          </a:xfrm>
          <a:prstGeom prst="rect">
            <a:avLst/>
          </a:prstGeom>
          <a:noFill/>
          <a:ln/>
        </p:spPr>
        <p:txBody>
          <a:bodyPr wrap="square" lIns="0" tIns="0" rIns="0" bIns="0"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Why Colleges Need This</a:t>
            </a:r>
            <a:endParaRPr lang="en-US" sz="3000" dirty="0"/>
          </a:p>
        </p:txBody>
      </p:sp>
      <p:sp>
        <p:nvSpPr>
          <p:cNvPr id="4" name="Shape 2"/>
          <p:cNvSpPr/>
          <p:nvPr/>
        </p:nvSpPr>
        <p:spPr>
          <a:xfrm>
            <a:off x="548640" y="1554480"/>
            <a:ext cx="6492240" cy="4480560"/>
          </a:xfrm>
          <a:prstGeom prst="roundRect">
            <a:avLst>
              <a:gd name="adj" fmla="val 1633"/>
            </a:avLst>
          </a:prstGeom>
          <a:solidFill>
            <a:srgbClr val="EAF4F3"/>
          </a:solidFill>
          <a:ln/>
        </p:spPr>
      </p:sp>
      <p:sp>
        <p:nvSpPr>
          <p:cNvPr id="5" name="Shape 3"/>
          <p:cNvSpPr/>
          <p:nvPr/>
        </p:nvSpPr>
        <p:spPr>
          <a:xfrm>
            <a:off x="914400" y="1874520"/>
            <a:ext cx="640080" cy="640080"/>
          </a:xfrm>
          <a:prstGeom prst="ellipse">
            <a:avLst/>
          </a:prstGeom>
          <a:solidFill>
            <a:srgbClr val="028090"/>
          </a:solidFill>
          <a:ln/>
        </p:spPr>
      </p:sp>
      <p:pic>
        <p:nvPicPr>
          <p:cNvPr id="6" name="Image 0" descr="icons/alert.png"/>
          <p:cNvPicPr>
            <a:picLocks noChangeAspect="1"/>
          </p:cNvPicPr>
          <p:nvPr/>
        </p:nvPicPr>
        <p:blipFill>
          <a:blip r:embed="rId3"/>
          <a:stretch>
            <a:fillRect/>
          </a:stretch>
        </p:blipFill>
        <p:spPr>
          <a:xfrm>
            <a:off x="984809" y="1944929"/>
            <a:ext cx="499262" cy="499262"/>
          </a:xfrm>
          <a:prstGeom prst="rect">
            <a:avLst/>
          </a:prstGeom>
        </p:spPr>
      </p:pic>
      <p:sp>
        <p:nvSpPr>
          <p:cNvPr id="7" name="Text 4"/>
          <p:cNvSpPr txBox="1"/>
          <p:nvPr/>
        </p:nvSpPr>
        <p:spPr>
          <a:xfrm>
            <a:off x="914400" y="2651760"/>
            <a:ext cx="5852160" cy="457200"/>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Traditional enquiry systems don't scale</a:t>
            </a:r>
            <a:endParaRPr lang="en-US" sz="1600" dirty="0"/>
          </a:p>
        </p:txBody>
      </p:sp>
      <p:sp>
        <p:nvSpPr>
          <p:cNvPr id="8" name="Text 5"/>
          <p:cNvSpPr txBox="1"/>
          <p:nvPr/>
        </p:nvSpPr>
        <p:spPr>
          <a:xfrm>
            <a:off x="914400" y="3246120"/>
            <a:ext cx="5760720" cy="265176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3293D"/>
                </a:solidFill>
                <a:latin typeface="Calibri" pitchFamily="34" charset="0"/>
                <a:ea typeface="Calibri" pitchFamily="34" charset="-122"/>
                <a:cs typeface="Calibri" pitchFamily="34" charset="-120"/>
              </a:rPr>
              <a:t>Admissions, courses, fees, hostel, placements — the same questions, asked thousands of times a season.</a:t>
            </a:r>
            <a:endParaRPr lang="en-US" sz="1350" dirty="0"/>
          </a:p>
          <a:p>
            <a:pPr marL="342900" indent="-342900">
              <a:spcAft>
                <a:spcPts val="1200"/>
              </a:spcAft>
              <a:buSzPct val="100000"/>
              <a:buChar char="▪"/>
            </a:pPr>
            <a:r>
              <a:rPr lang="en-US" sz="1350" dirty="0">
                <a:solidFill>
                  <a:srgbClr val="13293D"/>
                </a:solidFill>
                <a:latin typeface="Calibri" pitchFamily="34" charset="0"/>
                <a:ea typeface="Calibri" pitchFamily="34" charset="-122"/>
                <a:cs typeface="Calibri" pitchFamily="34" charset="-120"/>
              </a:rPr>
              <a:t>Manual channels (calls, emails, office visits) are slow and consume staff time.</a:t>
            </a:r>
            <a:endParaRPr lang="en-US" sz="1350" dirty="0"/>
          </a:p>
          <a:p>
            <a:pPr marL="342900" indent="-342900">
              <a:spcAft>
                <a:spcPts val="1200"/>
              </a:spcAft>
              <a:buSzPct val="100000"/>
              <a:buChar char="▪"/>
            </a:pPr>
            <a:r>
              <a:rPr lang="en-US" sz="1350" dirty="0">
                <a:solidFill>
                  <a:srgbClr val="13293D"/>
                </a:solidFill>
                <a:latin typeface="Calibri" pitchFamily="34" charset="0"/>
                <a:ea typeface="Calibri" pitchFamily="34" charset="-122"/>
                <a:cs typeface="Calibri" pitchFamily="34" charset="-120"/>
              </a:rPr>
              <a:t>Static FAQ pages can't understand the many ways a student phrases a question.</a:t>
            </a:r>
            <a:endParaRPr lang="en-US" sz="1350" dirty="0"/>
          </a:p>
          <a:p>
            <a:pPr marL="342900" indent="-342900">
              <a:spcAft>
                <a:spcPts val="1200"/>
              </a:spcAft>
              <a:buSzPct val="100000"/>
              <a:buChar char="▪"/>
            </a:pPr>
            <a:r>
              <a:rPr lang="en-US" sz="1350" dirty="0">
                <a:solidFill>
                  <a:srgbClr val="13293D"/>
                </a:solidFill>
                <a:latin typeface="Calibri" pitchFamily="34" charset="0"/>
                <a:ea typeface="Calibri" pitchFamily="34" charset="-122"/>
                <a:cs typeface="Calibri" pitchFamily="34" charset="-120"/>
              </a:rPr>
              <a:t>Result: delayed responses, overworked staff, frustrated applicants.</a:t>
            </a:r>
            <a:endParaRPr lang="en-US" sz="1350" dirty="0"/>
          </a:p>
        </p:txBody>
      </p:sp>
      <p:sp>
        <p:nvSpPr>
          <p:cNvPr id="9" name="Shape 6"/>
          <p:cNvSpPr/>
          <p:nvPr/>
        </p:nvSpPr>
        <p:spPr>
          <a:xfrm>
            <a:off x="7269480" y="1554480"/>
            <a:ext cx="4343400" cy="2148840"/>
          </a:xfrm>
          <a:prstGeom prst="roundRect">
            <a:avLst>
              <a:gd name="adj" fmla="val 3404"/>
            </a:avLst>
          </a:prstGeom>
          <a:solidFill>
            <a:srgbClr val="0B2545"/>
          </a:solidFill>
          <a:ln/>
        </p:spPr>
      </p:sp>
      <p:sp>
        <p:nvSpPr>
          <p:cNvPr id="10" name="Text 7"/>
          <p:cNvSpPr txBox="1"/>
          <p:nvPr/>
        </p:nvSpPr>
        <p:spPr>
          <a:xfrm>
            <a:off x="7269480" y="1783080"/>
            <a:ext cx="4343400" cy="914400"/>
          </a:xfrm>
          <a:prstGeom prst="rect">
            <a:avLst/>
          </a:prstGeom>
          <a:noFill/>
          <a:ln/>
        </p:spPr>
        <p:txBody>
          <a:bodyPr wrap="square" lIns="0" tIns="0" rIns="0" bIns="0" rtlCol="0" anchor="ctr"/>
          <a:lstStyle/>
          <a:p>
            <a:pPr marL="0" indent="0" algn="ctr">
              <a:buNone/>
            </a:pPr>
            <a:r>
              <a:rPr lang="en-US" sz="6000" b="1" dirty="0">
                <a:solidFill>
                  <a:srgbClr val="02C39A"/>
                </a:solidFill>
                <a:latin typeface="Cambria" pitchFamily="34" charset="0"/>
                <a:ea typeface="Cambria" pitchFamily="34" charset="-122"/>
                <a:cs typeface="Cambria" pitchFamily="34" charset="-120"/>
              </a:rPr>
              <a:t>8</a:t>
            </a:r>
            <a:endParaRPr lang="en-US" sz="6000" dirty="0"/>
          </a:p>
        </p:txBody>
      </p:sp>
      <p:sp>
        <p:nvSpPr>
          <p:cNvPr id="11" name="Text 8"/>
          <p:cNvSpPr txBox="1"/>
          <p:nvPr/>
        </p:nvSpPr>
        <p:spPr>
          <a:xfrm>
            <a:off x="7269480" y="2697480"/>
            <a:ext cx="4343400" cy="82296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core enquiry categories</a:t>
            </a:r>
            <a:endParaRPr lang="en-US" sz="1300" dirty="0"/>
          </a:p>
          <a:p>
            <a:pPr marL="0" indent="0" algn="ctr">
              <a:buNone/>
            </a:pPr>
            <a:r>
              <a:rPr lang="en-US" sz="1300" dirty="0">
                <a:solidFill>
                  <a:srgbClr val="CADCFC"/>
                </a:solidFill>
                <a:latin typeface="Calibri" pitchFamily="34" charset="0"/>
                <a:ea typeface="Calibri" pitchFamily="34" charset="-122"/>
                <a:cs typeface="Calibri" pitchFamily="34" charset="-120"/>
              </a:rPr>
              <a:t>handled automatically</a:t>
            </a:r>
            <a:endParaRPr lang="en-US" sz="1300" dirty="0"/>
          </a:p>
        </p:txBody>
      </p:sp>
      <p:sp>
        <p:nvSpPr>
          <p:cNvPr id="12" name="Shape 9"/>
          <p:cNvSpPr/>
          <p:nvPr/>
        </p:nvSpPr>
        <p:spPr>
          <a:xfrm>
            <a:off x="7269480" y="3886200"/>
            <a:ext cx="4343400" cy="2148840"/>
          </a:xfrm>
          <a:prstGeom prst="roundRect">
            <a:avLst>
              <a:gd name="adj" fmla="val 3404"/>
            </a:avLst>
          </a:prstGeom>
          <a:solidFill>
            <a:srgbClr val="028090"/>
          </a:solidFill>
          <a:ln/>
        </p:spPr>
      </p:sp>
      <p:sp>
        <p:nvSpPr>
          <p:cNvPr id="13" name="Text 10"/>
          <p:cNvSpPr txBox="1"/>
          <p:nvPr/>
        </p:nvSpPr>
        <p:spPr>
          <a:xfrm>
            <a:off x="7269480" y="4114800"/>
            <a:ext cx="434340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24/7</a:t>
            </a:r>
            <a:endParaRPr lang="en-US" sz="5200" dirty="0"/>
          </a:p>
        </p:txBody>
      </p:sp>
      <p:sp>
        <p:nvSpPr>
          <p:cNvPr id="14" name="Text 11"/>
          <p:cNvSpPr txBox="1"/>
          <p:nvPr/>
        </p:nvSpPr>
        <p:spPr>
          <a:xfrm>
            <a:off x="7269480" y="5029200"/>
            <a:ext cx="4343400" cy="822960"/>
          </a:xfrm>
          <a:prstGeom prst="rect">
            <a:avLst/>
          </a:prstGeom>
          <a:noFill/>
          <a:ln/>
        </p:spPr>
        <p:txBody>
          <a:bodyPr wrap="square" lIns="0" tIns="0" rIns="0" bIns="0" rtlCol="0" anchor="ctr"/>
          <a:lstStyle/>
          <a:p>
            <a:pPr marL="0" indent="0" algn="ctr">
              <a:buNone/>
            </a:pPr>
            <a:r>
              <a:rPr lang="en-US" sz="1300" dirty="0">
                <a:solidFill>
                  <a:srgbClr val="E5F6F5"/>
                </a:solidFill>
                <a:latin typeface="Calibri" pitchFamily="34" charset="0"/>
                <a:ea typeface="Calibri" pitchFamily="34" charset="-122"/>
                <a:cs typeface="Calibri" pitchFamily="34" charset="-120"/>
              </a:rPr>
              <a:t>instant responses,</a:t>
            </a:r>
            <a:endParaRPr lang="en-US" sz="1300" dirty="0"/>
          </a:p>
          <a:p>
            <a:pPr marL="0" indent="0" algn="ctr">
              <a:buNone/>
            </a:pPr>
            <a:r>
              <a:rPr lang="en-US" sz="1300" dirty="0">
                <a:solidFill>
                  <a:srgbClr val="E5F6F5"/>
                </a:solidFill>
                <a:latin typeface="Calibri" pitchFamily="34" charset="0"/>
                <a:ea typeface="Calibri" pitchFamily="34" charset="-122"/>
                <a:cs typeface="Calibri" pitchFamily="34" charset="-120"/>
              </a:rPr>
              <a:t>no human wait time</a:t>
            </a:r>
            <a:endParaRPr lang="en-US" sz="1300" dirty="0"/>
          </a:p>
        </p:txBody>
      </p:sp>
      <p:sp>
        <p:nvSpPr>
          <p:cNvPr id="15" name="Text 1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C7A85"/>
                </a:solidFill>
                <a:latin typeface="Calibri" pitchFamily="34" charset="0"/>
                <a:ea typeface="Calibri" pitchFamily="34" charset="-122"/>
                <a:cs typeface="Calibri" pitchFamily="34" charset="-120"/>
              </a:rPr>
              <a:t>03</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OBJECTIVES</a:t>
            </a:r>
            <a:endParaRPr lang="en-US" sz="1300" dirty="0"/>
          </a:p>
        </p:txBody>
      </p:sp>
      <p:sp>
        <p:nvSpPr>
          <p:cNvPr id="3" name="Text 1"/>
          <p:cNvSpPr txBox="1"/>
          <p:nvPr/>
        </p:nvSpPr>
        <p:spPr>
          <a:xfrm>
            <a:off x="548640" y="685800"/>
            <a:ext cx="9144000" cy="548640"/>
          </a:xfrm>
          <a:prstGeom prst="rect">
            <a:avLst/>
          </a:prstGeom>
          <a:noFill/>
          <a:ln/>
        </p:spPr>
        <p:txBody>
          <a:bodyPr wrap="square" lIns="0" tIns="0" rIns="0" bIns="0"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What We Set Out To Build</a:t>
            </a:r>
            <a:endParaRPr lang="en-US" sz="3000" dirty="0"/>
          </a:p>
        </p:txBody>
      </p:sp>
      <p:sp>
        <p:nvSpPr>
          <p:cNvPr id="4" name="Shape 2"/>
          <p:cNvSpPr/>
          <p:nvPr/>
        </p:nvSpPr>
        <p:spPr>
          <a:xfrm>
            <a:off x="548640" y="1554480"/>
            <a:ext cx="5349240" cy="1874520"/>
          </a:xfrm>
          <a:prstGeom prst="roundRect">
            <a:avLst>
              <a:gd name="adj" fmla="val 3902"/>
            </a:avLst>
          </a:prstGeom>
          <a:solidFill>
            <a:srgbClr val="FFFFFF"/>
          </a:solidFill>
          <a:ln w="12700">
            <a:solidFill>
              <a:srgbClr val="DCEEEC"/>
            </a:solidFill>
            <a:prstDash val="solid"/>
          </a:ln>
          <a:effectLst>
            <a:outerShdw blurRad="88900" dist="25400" dir="5400000" algn="bl" rotWithShape="0">
              <a:srgbClr val="1C7293">
                <a:alpha val="13000"/>
              </a:srgbClr>
            </a:outerShdw>
          </a:effectLst>
        </p:spPr>
      </p:sp>
      <p:sp>
        <p:nvSpPr>
          <p:cNvPr id="5" name="Shape 3"/>
          <p:cNvSpPr/>
          <p:nvPr/>
        </p:nvSpPr>
        <p:spPr>
          <a:xfrm>
            <a:off x="804672" y="1847088"/>
            <a:ext cx="566928" cy="566928"/>
          </a:xfrm>
          <a:prstGeom prst="ellipse">
            <a:avLst/>
          </a:prstGeom>
          <a:solidFill>
            <a:srgbClr val="00A896"/>
          </a:solidFill>
          <a:ln/>
        </p:spPr>
      </p:sp>
      <p:pic>
        <p:nvPicPr>
          <p:cNvPr id="6" name="Image 0" descr="icons/target.png"/>
          <p:cNvPicPr>
            <a:picLocks noChangeAspect="1"/>
          </p:cNvPicPr>
          <p:nvPr/>
        </p:nvPicPr>
        <p:blipFill>
          <a:blip r:embed="rId3"/>
          <a:stretch>
            <a:fillRect/>
          </a:stretch>
        </p:blipFill>
        <p:spPr>
          <a:xfrm>
            <a:off x="867034" y="1909450"/>
            <a:ext cx="442204" cy="442204"/>
          </a:xfrm>
          <a:prstGeom prst="rect">
            <a:avLst/>
          </a:prstGeom>
        </p:spPr>
      </p:pic>
      <p:sp>
        <p:nvSpPr>
          <p:cNvPr id="7" name="Text 4"/>
          <p:cNvSpPr txBox="1"/>
          <p:nvPr/>
        </p:nvSpPr>
        <p:spPr>
          <a:xfrm>
            <a:off x="1554480" y="1810512"/>
            <a:ext cx="4069080" cy="45720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Understand natural language</a:t>
            </a:r>
            <a:endParaRPr lang="en-US" sz="1500" dirty="0"/>
          </a:p>
        </p:txBody>
      </p:sp>
      <p:sp>
        <p:nvSpPr>
          <p:cNvPr id="8" name="Text 5"/>
          <p:cNvSpPr txBox="1"/>
          <p:nvPr/>
        </p:nvSpPr>
        <p:spPr>
          <a:xfrm>
            <a:off x="804672" y="2514600"/>
            <a:ext cx="4846320" cy="822960"/>
          </a:xfrm>
          <a:prstGeom prst="rect">
            <a:avLst/>
          </a:prstGeom>
          <a:noFill/>
          <a:ln/>
        </p:spPr>
        <p:txBody>
          <a:bodyPr wrap="square" lIns="0" tIns="0" rIns="0" bIns="0" rtlCol="0" anchor="t"/>
          <a:lstStyle/>
          <a:p>
            <a:pPr marL="0" indent="0">
              <a:buNone/>
            </a:pPr>
            <a:r>
              <a:rPr lang="en-US" sz="1200" dirty="0">
                <a:solidFill>
                  <a:srgbClr val="5C7A85"/>
                </a:solidFill>
                <a:latin typeface="Calibri" pitchFamily="34" charset="0"/>
                <a:ea typeface="Calibri" pitchFamily="34" charset="-122"/>
                <a:cs typeface="Calibri" pitchFamily="34" charset="-120"/>
              </a:rPr>
              <a:t>Parse real student phrasing, not just fixed keywords, using NLP preprocessing and intent classification.</a:t>
            </a:r>
            <a:endParaRPr lang="en-US" sz="1200" dirty="0"/>
          </a:p>
        </p:txBody>
      </p:sp>
      <p:sp>
        <p:nvSpPr>
          <p:cNvPr id="9" name="Shape 6"/>
          <p:cNvSpPr/>
          <p:nvPr/>
        </p:nvSpPr>
        <p:spPr>
          <a:xfrm>
            <a:off x="6263640" y="1554480"/>
            <a:ext cx="5349240" cy="1874520"/>
          </a:xfrm>
          <a:prstGeom prst="roundRect">
            <a:avLst>
              <a:gd name="adj" fmla="val 3902"/>
            </a:avLst>
          </a:prstGeom>
          <a:solidFill>
            <a:srgbClr val="FFFFFF"/>
          </a:solidFill>
          <a:ln w="12700">
            <a:solidFill>
              <a:srgbClr val="DCEEEC"/>
            </a:solidFill>
            <a:prstDash val="solid"/>
          </a:ln>
          <a:effectLst>
            <a:outerShdw blurRad="88900" dist="25400" dir="5400000" algn="bl" rotWithShape="0">
              <a:srgbClr val="1C7293">
                <a:alpha val="13000"/>
              </a:srgbClr>
            </a:outerShdw>
          </a:effectLst>
        </p:spPr>
      </p:sp>
      <p:sp>
        <p:nvSpPr>
          <p:cNvPr id="10" name="Shape 7"/>
          <p:cNvSpPr/>
          <p:nvPr/>
        </p:nvSpPr>
        <p:spPr>
          <a:xfrm>
            <a:off x="6519672" y="1847088"/>
            <a:ext cx="566928" cy="566928"/>
          </a:xfrm>
          <a:prstGeom prst="ellipse">
            <a:avLst/>
          </a:prstGeom>
          <a:solidFill>
            <a:srgbClr val="00A896"/>
          </a:solidFill>
          <a:ln/>
        </p:spPr>
      </p:sp>
      <p:pic>
        <p:nvPicPr>
          <p:cNvPr id="11" name="Image 1" descr="icons/bolt.png"/>
          <p:cNvPicPr>
            <a:picLocks noChangeAspect="1"/>
          </p:cNvPicPr>
          <p:nvPr/>
        </p:nvPicPr>
        <p:blipFill>
          <a:blip r:embed="rId4"/>
          <a:stretch>
            <a:fillRect/>
          </a:stretch>
        </p:blipFill>
        <p:spPr>
          <a:xfrm>
            <a:off x="6582034" y="1909450"/>
            <a:ext cx="442204" cy="442204"/>
          </a:xfrm>
          <a:prstGeom prst="rect">
            <a:avLst/>
          </a:prstGeom>
        </p:spPr>
      </p:pic>
      <p:sp>
        <p:nvSpPr>
          <p:cNvPr id="12" name="Text 8"/>
          <p:cNvSpPr txBox="1"/>
          <p:nvPr/>
        </p:nvSpPr>
        <p:spPr>
          <a:xfrm>
            <a:off x="7269480" y="1810512"/>
            <a:ext cx="4069080" cy="45720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Respond instantly &amp; accurately</a:t>
            </a:r>
            <a:endParaRPr lang="en-US" sz="1500" dirty="0"/>
          </a:p>
        </p:txBody>
      </p:sp>
      <p:sp>
        <p:nvSpPr>
          <p:cNvPr id="13" name="Text 9"/>
          <p:cNvSpPr txBox="1"/>
          <p:nvPr/>
        </p:nvSpPr>
        <p:spPr>
          <a:xfrm>
            <a:off x="6519672" y="2514600"/>
            <a:ext cx="4846320" cy="822960"/>
          </a:xfrm>
          <a:prstGeom prst="rect">
            <a:avLst/>
          </a:prstGeom>
          <a:noFill/>
          <a:ln/>
        </p:spPr>
        <p:txBody>
          <a:bodyPr wrap="square" lIns="0" tIns="0" rIns="0" bIns="0" rtlCol="0" anchor="t"/>
          <a:lstStyle/>
          <a:p>
            <a:pPr marL="0" indent="0">
              <a:buNone/>
            </a:pPr>
            <a:r>
              <a:rPr lang="en-US" sz="1200" dirty="0">
                <a:solidFill>
                  <a:srgbClr val="5C7A85"/>
                </a:solidFill>
                <a:latin typeface="Calibri" pitchFamily="34" charset="0"/>
                <a:ea typeface="Calibri" pitchFamily="34" charset="-122"/>
                <a:cs typeface="Calibri" pitchFamily="34" charset="-120"/>
              </a:rPr>
              <a:t>Return verified answers in milliseconds instead of hours or days of manual turnaround.</a:t>
            </a:r>
            <a:endParaRPr lang="en-US" sz="1200" dirty="0"/>
          </a:p>
        </p:txBody>
      </p:sp>
      <p:sp>
        <p:nvSpPr>
          <p:cNvPr id="14" name="Shape 10"/>
          <p:cNvSpPr/>
          <p:nvPr/>
        </p:nvSpPr>
        <p:spPr>
          <a:xfrm>
            <a:off x="548640" y="3749040"/>
            <a:ext cx="5349240" cy="1874520"/>
          </a:xfrm>
          <a:prstGeom prst="roundRect">
            <a:avLst>
              <a:gd name="adj" fmla="val 3902"/>
            </a:avLst>
          </a:prstGeom>
          <a:solidFill>
            <a:srgbClr val="FFFFFF"/>
          </a:solidFill>
          <a:ln w="12700">
            <a:solidFill>
              <a:srgbClr val="DCEEEC"/>
            </a:solidFill>
            <a:prstDash val="solid"/>
          </a:ln>
          <a:effectLst>
            <a:outerShdw blurRad="88900" dist="25400" dir="5400000" algn="bl" rotWithShape="0">
              <a:srgbClr val="1C7293">
                <a:alpha val="13000"/>
              </a:srgbClr>
            </a:outerShdw>
          </a:effectLst>
        </p:spPr>
      </p:sp>
      <p:sp>
        <p:nvSpPr>
          <p:cNvPr id="15" name="Shape 11"/>
          <p:cNvSpPr/>
          <p:nvPr/>
        </p:nvSpPr>
        <p:spPr>
          <a:xfrm>
            <a:off x="804672" y="4041648"/>
            <a:ext cx="566928" cy="566928"/>
          </a:xfrm>
          <a:prstGeom prst="ellipse">
            <a:avLst/>
          </a:prstGeom>
          <a:solidFill>
            <a:srgbClr val="00A896"/>
          </a:solidFill>
          <a:ln/>
        </p:spPr>
      </p:sp>
      <p:pic>
        <p:nvPicPr>
          <p:cNvPr id="16" name="Image 2" descr="icons/layers.png"/>
          <p:cNvPicPr>
            <a:picLocks noChangeAspect="1"/>
          </p:cNvPicPr>
          <p:nvPr/>
        </p:nvPicPr>
        <p:blipFill>
          <a:blip r:embed="rId5"/>
          <a:stretch>
            <a:fillRect/>
          </a:stretch>
        </p:blipFill>
        <p:spPr>
          <a:xfrm>
            <a:off x="867034" y="4104010"/>
            <a:ext cx="442204" cy="442204"/>
          </a:xfrm>
          <a:prstGeom prst="rect">
            <a:avLst/>
          </a:prstGeom>
        </p:spPr>
      </p:pic>
      <p:sp>
        <p:nvSpPr>
          <p:cNvPr id="17" name="Text 12"/>
          <p:cNvSpPr txBox="1"/>
          <p:nvPr/>
        </p:nvSpPr>
        <p:spPr>
          <a:xfrm>
            <a:off x="1554480" y="4005072"/>
            <a:ext cx="4069080" cy="45720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Reduce administrative load</a:t>
            </a:r>
            <a:endParaRPr lang="en-US" sz="1500" dirty="0"/>
          </a:p>
        </p:txBody>
      </p:sp>
      <p:sp>
        <p:nvSpPr>
          <p:cNvPr id="18" name="Text 13"/>
          <p:cNvSpPr txBox="1"/>
          <p:nvPr/>
        </p:nvSpPr>
        <p:spPr>
          <a:xfrm>
            <a:off x="804672" y="4709160"/>
            <a:ext cx="4846320" cy="822960"/>
          </a:xfrm>
          <a:prstGeom prst="rect">
            <a:avLst/>
          </a:prstGeom>
          <a:noFill/>
          <a:ln/>
        </p:spPr>
        <p:txBody>
          <a:bodyPr wrap="square" lIns="0" tIns="0" rIns="0" bIns="0" rtlCol="0" anchor="t"/>
          <a:lstStyle/>
          <a:p>
            <a:pPr marL="0" indent="0">
              <a:buNone/>
            </a:pPr>
            <a:r>
              <a:rPr lang="en-US" sz="1200" dirty="0">
                <a:solidFill>
                  <a:srgbClr val="5C7A85"/>
                </a:solidFill>
                <a:latin typeface="Calibri" pitchFamily="34" charset="0"/>
                <a:ea typeface="Calibri" pitchFamily="34" charset="-122"/>
                <a:cs typeface="Calibri" pitchFamily="34" charset="-120"/>
              </a:rPr>
              <a:t>Automate the repetitive share of enquiries so staff can focus on complex, non-routine cases.</a:t>
            </a:r>
            <a:endParaRPr lang="en-US" sz="1200" dirty="0"/>
          </a:p>
        </p:txBody>
      </p:sp>
      <p:sp>
        <p:nvSpPr>
          <p:cNvPr id="19" name="Shape 14"/>
          <p:cNvSpPr/>
          <p:nvPr/>
        </p:nvSpPr>
        <p:spPr>
          <a:xfrm>
            <a:off x="6263640" y="3749040"/>
            <a:ext cx="5349240" cy="1874520"/>
          </a:xfrm>
          <a:prstGeom prst="roundRect">
            <a:avLst>
              <a:gd name="adj" fmla="val 3902"/>
            </a:avLst>
          </a:prstGeom>
          <a:solidFill>
            <a:srgbClr val="FFFFFF"/>
          </a:solidFill>
          <a:ln w="12700">
            <a:solidFill>
              <a:srgbClr val="DCEEEC"/>
            </a:solidFill>
            <a:prstDash val="solid"/>
          </a:ln>
          <a:effectLst>
            <a:outerShdw blurRad="88900" dist="25400" dir="5400000" algn="bl" rotWithShape="0">
              <a:srgbClr val="1C7293">
                <a:alpha val="13000"/>
              </a:srgbClr>
            </a:outerShdw>
          </a:effectLst>
        </p:spPr>
      </p:sp>
      <p:sp>
        <p:nvSpPr>
          <p:cNvPr id="20" name="Shape 15"/>
          <p:cNvSpPr/>
          <p:nvPr/>
        </p:nvSpPr>
        <p:spPr>
          <a:xfrm>
            <a:off x="6519672" y="4041648"/>
            <a:ext cx="566928" cy="566928"/>
          </a:xfrm>
          <a:prstGeom prst="ellipse">
            <a:avLst/>
          </a:prstGeom>
          <a:solidFill>
            <a:srgbClr val="00A896"/>
          </a:solidFill>
          <a:ln/>
        </p:spPr>
      </p:sp>
      <p:pic>
        <p:nvPicPr>
          <p:cNvPr id="21" name="Image 3" descr="icons/chart.png"/>
          <p:cNvPicPr>
            <a:picLocks noChangeAspect="1"/>
          </p:cNvPicPr>
          <p:nvPr/>
        </p:nvPicPr>
        <p:blipFill>
          <a:blip r:embed="rId6"/>
          <a:stretch>
            <a:fillRect/>
          </a:stretch>
        </p:blipFill>
        <p:spPr>
          <a:xfrm>
            <a:off x="6582034" y="4104010"/>
            <a:ext cx="442204" cy="442204"/>
          </a:xfrm>
          <a:prstGeom prst="rect">
            <a:avLst/>
          </a:prstGeom>
        </p:spPr>
      </p:pic>
      <p:sp>
        <p:nvSpPr>
          <p:cNvPr id="22" name="Text 16"/>
          <p:cNvSpPr txBox="1"/>
          <p:nvPr/>
        </p:nvSpPr>
        <p:spPr>
          <a:xfrm>
            <a:off x="7269480" y="4005072"/>
            <a:ext cx="4069080" cy="45720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Demonstrate applied Data Science</a:t>
            </a:r>
            <a:endParaRPr lang="en-US" sz="1500" dirty="0"/>
          </a:p>
        </p:txBody>
      </p:sp>
      <p:sp>
        <p:nvSpPr>
          <p:cNvPr id="23" name="Text 17"/>
          <p:cNvSpPr txBox="1"/>
          <p:nvPr/>
        </p:nvSpPr>
        <p:spPr>
          <a:xfrm>
            <a:off x="6519672" y="4709160"/>
            <a:ext cx="4846320" cy="822960"/>
          </a:xfrm>
          <a:prstGeom prst="rect">
            <a:avLst/>
          </a:prstGeom>
          <a:noFill/>
          <a:ln/>
        </p:spPr>
        <p:txBody>
          <a:bodyPr wrap="square" lIns="0" tIns="0" rIns="0" bIns="0" rtlCol="0" anchor="t"/>
          <a:lstStyle/>
          <a:p>
            <a:pPr marL="0" indent="0">
              <a:buNone/>
            </a:pPr>
            <a:r>
              <a:rPr lang="en-US" sz="1200" dirty="0">
                <a:solidFill>
                  <a:srgbClr val="5C7A85"/>
                </a:solidFill>
                <a:latin typeface="Calibri" pitchFamily="34" charset="0"/>
                <a:ea typeface="Calibri" pitchFamily="34" charset="-122"/>
                <a:cs typeface="Calibri" pitchFamily="34" charset="-120"/>
              </a:rPr>
              <a:t>Showcase the full pipeline — preprocessing, feature extraction, classification, retrieval — end to end.</a:t>
            </a:r>
            <a:endParaRPr lang="en-US" sz="1200" dirty="0"/>
          </a:p>
        </p:txBody>
      </p:sp>
      <p:sp>
        <p:nvSpPr>
          <p:cNvPr id="24" name="Text 18"/>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C7A85"/>
                </a:solidFill>
                <a:latin typeface="Calibri" pitchFamily="34" charset="0"/>
                <a:ea typeface="Calibri" pitchFamily="34" charset="-122"/>
                <a:cs typeface="Calibri" pitchFamily="34" charset="-120"/>
              </a:rPr>
              <a:t>04</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22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22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22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22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22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22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wipe(left)">
                                      <p:cBhvr>
                                        <p:cTn id="107" dur="22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22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22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p:bldP spid="12" grpId="0" animBg="1"/>
      <p:bldP spid="13" grpId="0" animBg="1"/>
      <p:bldP spid="14" grpId="0" animBg="1"/>
      <p:bldP spid="15" grpId="0" animBg="1"/>
      <p:bldP spid="16" grpId="0"/>
      <p:bldP spid="17" grpId="0" animBg="1"/>
      <p:bldP spid="18" grpId="0" animBg="1"/>
      <p:bldP spid="19" grpId="0" animBg="1"/>
      <p:bldP spid="20" grpId="0" animBg="1"/>
      <p:bldP spid="21" grpId="0"/>
      <p:bldP spid="22" grpId="0" animBg="1"/>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SYSTEM DESIGN</a:t>
            </a:r>
            <a:endParaRPr lang="en-US" sz="1300" dirty="0"/>
          </a:p>
        </p:txBody>
      </p:sp>
      <p:sp>
        <p:nvSpPr>
          <p:cNvPr id="3" name="Text 1"/>
          <p:cNvSpPr txBox="1"/>
          <p:nvPr/>
        </p:nvSpPr>
        <p:spPr>
          <a:xfrm>
            <a:off x="548640" y="685800"/>
            <a:ext cx="91440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System Architecture</a:t>
            </a:r>
            <a:endParaRPr lang="en-US" sz="3000" dirty="0"/>
          </a:p>
        </p:txBody>
      </p:sp>
      <p:sp>
        <p:nvSpPr>
          <p:cNvPr id="4" name="Text 2"/>
          <p:cNvSpPr txBox="1"/>
          <p:nvPr/>
        </p:nvSpPr>
        <p:spPr>
          <a:xfrm>
            <a:off x="548640" y="1234440"/>
            <a:ext cx="10789920" cy="365760"/>
          </a:xfrm>
          <a:prstGeom prst="rect">
            <a:avLst/>
          </a:prstGeom>
          <a:noFill/>
          <a:ln/>
        </p:spPr>
        <p:txBody>
          <a:bodyPr wrap="square" lIns="0" tIns="0" rIns="0" bIns="0" rtlCol="0" anchor="ctr"/>
          <a:lstStyle/>
          <a:p>
            <a:pPr marL="0" indent="0">
              <a:buNone/>
            </a:pPr>
            <a:r>
              <a:rPr lang="en-US" sz="1300" dirty="0">
                <a:solidFill>
                  <a:srgbClr val="9FC6C9"/>
                </a:solidFill>
                <a:latin typeface="Calibri" pitchFamily="34" charset="0"/>
                <a:ea typeface="Calibri" pitchFamily="34" charset="-122"/>
                <a:cs typeface="Calibri" pitchFamily="34" charset="-120"/>
              </a:rPr>
              <a:t>Hybrid pipeline: TF-IDF + Logistic Regression intent classification, in-intent cosine retrieval, and a Groq LLM fallback</a:t>
            </a:r>
            <a:endParaRPr lang="en-US" sz="1300" dirty="0"/>
          </a:p>
        </p:txBody>
      </p:sp>
      <p:sp>
        <p:nvSpPr>
          <p:cNvPr id="5" name="Shape 3"/>
          <p:cNvSpPr/>
          <p:nvPr/>
        </p:nvSpPr>
        <p:spPr>
          <a:xfrm>
            <a:off x="548640" y="2148840"/>
            <a:ext cx="1874520" cy="1554480"/>
          </a:xfrm>
          <a:prstGeom prst="roundRect">
            <a:avLst>
              <a:gd name="adj" fmla="val 5294"/>
            </a:avLst>
          </a:prstGeom>
          <a:solidFill>
            <a:srgbClr val="10395A"/>
          </a:solidFill>
          <a:ln w="12700">
            <a:solidFill>
              <a:srgbClr val="028090"/>
            </a:solidFill>
            <a:prstDash val="solid"/>
          </a:ln>
        </p:spPr>
      </p:sp>
      <p:sp>
        <p:nvSpPr>
          <p:cNvPr id="6" name="Shape 4"/>
          <p:cNvSpPr/>
          <p:nvPr/>
        </p:nvSpPr>
        <p:spPr>
          <a:xfrm>
            <a:off x="1193292" y="2331720"/>
            <a:ext cx="585216" cy="585216"/>
          </a:xfrm>
          <a:prstGeom prst="ellipse">
            <a:avLst/>
          </a:prstGeom>
          <a:solidFill>
            <a:srgbClr val="028090"/>
          </a:solidFill>
          <a:ln/>
        </p:spPr>
      </p:sp>
      <p:pic>
        <p:nvPicPr>
          <p:cNvPr id="7" name="Image 0" descr="icons/desktop.png"/>
          <p:cNvPicPr>
            <a:picLocks noChangeAspect="1"/>
          </p:cNvPicPr>
          <p:nvPr/>
        </p:nvPicPr>
        <p:blipFill>
          <a:blip r:embed="rId3"/>
          <a:stretch>
            <a:fillRect/>
          </a:stretch>
        </p:blipFill>
        <p:spPr>
          <a:xfrm>
            <a:off x="1257666" y="2396094"/>
            <a:ext cx="456468" cy="456468"/>
          </a:xfrm>
          <a:prstGeom prst="rect">
            <a:avLst/>
          </a:prstGeom>
        </p:spPr>
      </p:pic>
      <p:sp>
        <p:nvSpPr>
          <p:cNvPr id="8" name="Text 5"/>
          <p:cNvSpPr txBox="1"/>
          <p:nvPr/>
        </p:nvSpPr>
        <p:spPr>
          <a:xfrm>
            <a:off x="640080" y="3044952"/>
            <a:ext cx="1691640" cy="3200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React Frontend</a:t>
            </a:r>
            <a:endParaRPr lang="en-US" sz="1150" dirty="0"/>
          </a:p>
        </p:txBody>
      </p:sp>
      <p:sp>
        <p:nvSpPr>
          <p:cNvPr id="9" name="Text 6"/>
          <p:cNvSpPr txBox="1"/>
          <p:nvPr/>
        </p:nvSpPr>
        <p:spPr>
          <a:xfrm>
            <a:off x="640080" y="3337560"/>
            <a:ext cx="1691640" cy="320040"/>
          </a:xfrm>
          <a:prstGeom prst="rect">
            <a:avLst/>
          </a:prstGeom>
          <a:noFill/>
          <a:ln/>
        </p:spPr>
        <p:txBody>
          <a:bodyPr wrap="square" lIns="0" tIns="0" rIns="0" bIns="0" rtlCol="0" anchor="ctr"/>
          <a:lstStyle/>
          <a:p>
            <a:pPr marL="0" indent="0" algn="ctr">
              <a:buNone/>
            </a:pPr>
            <a:r>
              <a:rPr lang="en-US" sz="1050" dirty="0">
                <a:solidFill>
                  <a:srgbClr val="9FC6C9"/>
                </a:solidFill>
                <a:latin typeface="Calibri" pitchFamily="34" charset="0"/>
                <a:ea typeface="Calibri" pitchFamily="34" charset="-122"/>
                <a:cs typeface="Calibri" pitchFamily="34" charset="-120"/>
              </a:rPr>
              <a:t>Chat UI, sends question</a:t>
            </a:r>
            <a:endParaRPr lang="en-US" sz="1050" dirty="0"/>
          </a:p>
        </p:txBody>
      </p:sp>
      <p:sp>
        <p:nvSpPr>
          <p:cNvPr id="10" name="Text 7"/>
          <p:cNvSpPr txBox="1"/>
          <p:nvPr/>
        </p:nvSpPr>
        <p:spPr>
          <a:xfrm>
            <a:off x="2423160" y="2651760"/>
            <a:ext cx="256032" cy="457200"/>
          </a:xfrm>
          <a:prstGeom prst="rect">
            <a:avLst/>
          </a:prstGeom>
          <a:noFill/>
          <a:ln/>
        </p:spPr>
        <p:txBody>
          <a:bodyPr wrap="square" lIns="0" tIns="0" rIns="0" bIns="0" rtlCol="0" anchor="ctr"/>
          <a:lstStyle/>
          <a:p>
            <a:pPr marL="0" indent="0" algn="ctr">
              <a:buNone/>
            </a:pPr>
            <a:r>
              <a:rPr lang="en-US" sz="2000" b="1" dirty="0">
                <a:solidFill>
                  <a:srgbClr val="02C39A"/>
                </a:solidFill>
                <a:latin typeface="Arial" pitchFamily="34" charset="0"/>
                <a:ea typeface="Arial" pitchFamily="34" charset="-122"/>
                <a:cs typeface="Arial" pitchFamily="34" charset="-120"/>
              </a:rPr>
              <a:t>→</a:t>
            </a:r>
            <a:endParaRPr lang="en-US" sz="2000" dirty="0"/>
          </a:p>
        </p:txBody>
      </p:sp>
      <p:sp>
        <p:nvSpPr>
          <p:cNvPr id="11" name="Shape 8"/>
          <p:cNvSpPr/>
          <p:nvPr/>
        </p:nvSpPr>
        <p:spPr>
          <a:xfrm>
            <a:off x="2679192" y="2148840"/>
            <a:ext cx="1874520" cy="1554480"/>
          </a:xfrm>
          <a:prstGeom prst="roundRect">
            <a:avLst>
              <a:gd name="adj" fmla="val 5294"/>
            </a:avLst>
          </a:prstGeom>
          <a:solidFill>
            <a:srgbClr val="10395A"/>
          </a:solidFill>
          <a:ln w="12700">
            <a:solidFill>
              <a:srgbClr val="028090"/>
            </a:solidFill>
            <a:prstDash val="solid"/>
          </a:ln>
        </p:spPr>
      </p:sp>
      <p:sp>
        <p:nvSpPr>
          <p:cNvPr id="12" name="Shape 9"/>
          <p:cNvSpPr/>
          <p:nvPr/>
        </p:nvSpPr>
        <p:spPr>
          <a:xfrm>
            <a:off x="3323844" y="2331720"/>
            <a:ext cx="585216" cy="585216"/>
          </a:xfrm>
          <a:prstGeom prst="ellipse">
            <a:avLst/>
          </a:prstGeom>
          <a:solidFill>
            <a:srgbClr val="028090"/>
          </a:solidFill>
          <a:ln/>
        </p:spPr>
      </p:sp>
      <p:pic>
        <p:nvPicPr>
          <p:cNvPr id="13" name="Image 1" descr="icons/server.png"/>
          <p:cNvPicPr>
            <a:picLocks noChangeAspect="1"/>
          </p:cNvPicPr>
          <p:nvPr/>
        </p:nvPicPr>
        <p:blipFill>
          <a:blip r:embed="rId4"/>
          <a:stretch>
            <a:fillRect/>
          </a:stretch>
        </p:blipFill>
        <p:spPr>
          <a:xfrm>
            <a:off x="3388218" y="2396094"/>
            <a:ext cx="456468" cy="456468"/>
          </a:xfrm>
          <a:prstGeom prst="rect">
            <a:avLst/>
          </a:prstGeom>
        </p:spPr>
      </p:pic>
      <p:sp>
        <p:nvSpPr>
          <p:cNvPr id="14" name="Text 10"/>
          <p:cNvSpPr txBox="1"/>
          <p:nvPr/>
        </p:nvSpPr>
        <p:spPr>
          <a:xfrm>
            <a:off x="2770632" y="3044952"/>
            <a:ext cx="1691640" cy="3200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Flask API</a:t>
            </a:r>
            <a:endParaRPr lang="en-US" sz="1150" dirty="0"/>
          </a:p>
        </p:txBody>
      </p:sp>
      <p:sp>
        <p:nvSpPr>
          <p:cNvPr id="15" name="Text 11"/>
          <p:cNvSpPr txBox="1"/>
          <p:nvPr/>
        </p:nvSpPr>
        <p:spPr>
          <a:xfrm>
            <a:off x="2770632" y="3337560"/>
            <a:ext cx="1691640" cy="320040"/>
          </a:xfrm>
          <a:prstGeom prst="rect">
            <a:avLst/>
          </a:prstGeom>
          <a:noFill/>
          <a:ln/>
        </p:spPr>
        <p:txBody>
          <a:bodyPr wrap="square" lIns="0" tIns="0" rIns="0" bIns="0" rtlCol="0" anchor="ctr"/>
          <a:lstStyle/>
          <a:p>
            <a:pPr marL="0" indent="0" algn="ctr">
              <a:buNone/>
            </a:pPr>
            <a:r>
              <a:rPr lang="en-US" sz="1050" dirty="0">
                <a:solidFill>
                  <a:srgbClr val="9FC6C9"/>
                </a:solidFill>
                <a:latin typeface="Calibri" pitchFamily="34" charset="0"/>
                <a:ea typeface="Calibri" pitchFamily="34" charset="-122"/>
                <a:cs typeface="Calibri" pitchFamily="34" charset="-120"/>
              </a:rPr>
              <a:t>/predict endpoint</a:t>
            </a:r>
            <a:endParaRPr lang="en-US" sz="1050" dirty="0"/>
          </a:p>
        </p:txBody>
      </p:sp>
      <p:sp>
        <p:nvSpPr>
          <p:cNvPr id="16" name="Text 12"/>
          <p:cNvSpPr txBox="1"/>
          <p:nvPr/>
        </p:nvSpPr>
        <p:spPr>
          <a:xfrm>
            <a:off x="4553712" y="2651760"/>
            <a:ext cx="256032" cy="457200"/>
          </a:xfrm>
          <a:prstGeom prst="rect">
            <a:avLst/>
          </a:prstGeom>
          <a:noFill/>
          <a:ln/>
        </p:spPr>
        <p:txBody>
          <a:bodyPr wrap="square" lIns="0" tIns="0" rIns="0" bIns="0" rtlCol="0" anchor="ctr"/>
          <a:lstStyle/>
          <a:p>
            <a:pPr marL="0" indent="0" algn="ctr">
              <a:buNone/>
            </a:pPr>
            <a:r>
              <a:rPr lang="en-US" sz="2000" b="1" dirty="0">
                <a:solidFill>
                  <a:srgbClr val="02C39A"/>
                </a:solidFill>
                <a:latin typeface="Arial" pitchFamily="34" charset="0"/>
                <a:ea typeface="Arial" pitchFamily="34" charset="-122"/>
                <a:cs typeface="Arial" pitchFamily="34" charset="-120"/>
              </a:rPr>
              <a:t>→</a:t>
            </a:r>
            <a:endParaRPr lang="en-US" sz="2000" dirty="0"/>
          </a:p>
        </p:txBody>
      </p:sp>
      <p:sp>
        <p:nvSpPr>
          <p:cNvPr id="17" name="Shape 13"/>
          <p:cNvSpPr/>
          <p:nvPr/>
        </p:nvSpPr>
        <p:spPr>
          <a:xfrm>
            <a:off x="4809744" y="2148840"/>
            <a:ext cx="1874520" cy="1554480"/>
          </a:xfrm>
          <a:prstGeom prst="roundRect">
            <a:avLst>
              <a:gd name="adj" fmla="val 5294"/>
            </a:avLst>
          </a:prstGeom>
          <a:solidFill>
            <a:srgbClr val="10395A"/>
          </a:solidFill>
          <a:ln w="12700">
            <a:solidFill>
              <a:srgbClr val="028090"/>
            </a:solidFill>
            <a:prstDash val="solid"/>
          </a:ln>
        </p:spPr>
      </p:sp>
      <p:sp>
        <p:nvSpPr>
          <p:cNvPr id="18" name="Shape 14"/>
          <p:cNvSpPr/>
          <p:nvPr/>
        </p:nvSpPr>
        <p:spPr>
          <a:xfrm>
            <a:off x="5454396" y="2331720"/>
            <a:ext cx="585216" cy="585216"/>
          </a:xfrm>
          <a:prstGeom prst="ellipse">
            <a:avLst/>
          </a:prstGeom>
          <a:solidFill>
            <a:srgbClr val="028090"/>
          </a:solidFill>
          <a:ln/>
        </p:spPr>
      </p:sp>
      <p:pic>
        <p:nvPicPr>
          <p:cNvPr id="19" name="Image 2" descr="icons/filter.png"/>
          <p:cNvPicPr>
            <a:picLocks noChangeAspect="1"/>
          </p:cNvPicPr>
          <p:nvPr/>
        </p:nvPicPr>
        <p:blipFill>
          <a:blip r:embed="rId5"/>
          <a:stretch>
            <a:fillRect/>
          </a:stretch>
        </p:blipFill>
        <p:spPr>
          <a:xfrm>
            <a:off x="5518770" y="2396094"/>
            <a:ext cx="456468" cy="456468"/>
          </a:xfrm>
          <a:prstGeom prst="rect">
            <a:avLst/>
          </a:prstGeom>
        </p:spPr>
      </p:pic>
      <p:sp>
        <p:nvSpPr>
          <p:cNvPr id="20" name="Text 15"/>
          <p:cNvSpPr txBox="1"/>
          <p:nvPr/>
        </p:nvSpPr>
        <p:spPr>
          <a:xfrm>
            <a:off x="4901184" y="3044952"/>
            <a:ext cx="1691640" cy="3200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Preprocessing</a:t>
            </a:r>
            <a:endParaRPr lang="en-US" sz="1150" dirty="0"/>
          </a:p>
        </p:txBody>
      </p:sp>
      <p:sp>
        <p:nvSpPr>
          <p:cNvPr id="21" name="Text 16"/>
          <p:cNvSpPr txBox="1"/>
          <p:nvPr/>
        </p:nvSpPr>
        <p:spPr>
          <a:xfrm>
            <a:off x="4901184" y="3337560"/>
            <a:ext cx="1691640" cy="320040"/>
          </a:xfrm>
          <a:prstGeom prst="rect">
            <a:avLst/>
          </a:prstGeom>
          <a:noFill/>
          <a:ln/>
        </p:spPr>
        <p:txBody>
          <a:bodyPr wrap="square" lIns="0" tIns="0" rIns="0" bIns="0" rtlCol="0" anchor="ctr"/>
          <a:lstStyle/>
          <a:p>
            <a:pPr marL="0" indent="0" algn="ctr">
              <a:buNone/>
            </a:pPr>
            <a:r>
              <a:rPr lang="en-US" sz="1050" dirty="0">
                <a:solidFill>
                  <a:srgbClr val="9FC6C9"/>
                </a:solidFill>
                <a:latin typeface="Calibri" pitchFamily="34" charset="0"/>
                <a:ea typeface="Calibri" pitchFamily="34" charset="-122"/>
                <a:cs typeface="Calibri" pitchFamily="34" charset="-120"/>
              </a:rPr>
              <a:t>clean → tokenize → lemmatize</a:t>
            </a:r>
            <a:endParaRPr lang="en-US" sz="1050" dirty="0"/>
          </a:p>
        </p:txBody>
      </p:sp>
      <p:sp>
        <p:nvSpPr>
          <p:cNvPr id="22" name="Text 17"/>
          <p:cNvSpPr txBox="1"/>
          <p:nvPr/>
        </p:nvSpPr>
        <p:spPr>
          <a:xfrm>
            <a:off x="6684264" y="2651760"/>
            <a:ext cx="256032" cy="457200"/>
          </a:xfrm>
          <a:prstGeom prst="rect">
            <a:avLst/>
          </a:prstGeom>
          <a:noFill/>
          <a:ln/>
        </p:spPr>
        <p:txBody>
          <a:bodyPr wrap="square" lIns="0" tIns="0" rIns="0" bIns="0" rtlCol="0" anchor="ctr"/>
          <a:lstStyle/>
          <a:p>
            <a:pPr marL="0" indent="0" algn="ctr">
              <a:buNone/>
            </a:pPr>
            <a:r>
              <a:rPr lang="en-US" sz="2000" b="1" dirty="0">
                <a:solidFill>
                  <a:srgbClr val="02C39A"/>
                </a:solidFill>
                <a:latin typeface="Arial" pitchFamily="34" charset="0"/>
                <a:ea typeface="Arial" pitchFamily="34" charset="-122"/>
                <a:cs typeface="Arial" pitchFamily="34" charset="-120"/>
              </a:rPr>
              <a:t>→</a:t>
            </a:r>
            <a:endParaRPr lang="en-US" sz="2000" dirty="0"/>
          </a:p>
        </p:txBody>
      </p:sp>
      <p:sp>
        <p:nvSpPr>
          <p:cNvPr id="23" name="Shape 18"/>
          <p:cNvSpPr/>
          <p:nvPr/>
        </p:nvSpPr>
        <p:spPr>
          <a:xfrm>
            <a:off x="6940296" y="2148840"/>
            <a:ext cx="1874520" cy="1554480"/>
          </a:xfrm>
          <a:prstGeom prst="roundRect">
            <a:avLst>
              <a:gd name="adj" fmla="val 5294"/>
            </a:avLst>
          </a:prstGeom>
          <a:solidFill>
            <a:srgbClr val="10395A"/>
          </a:solidFill>
          <a:ln w="12700">
            <a:solidFill>
              <a:srgbClr val="028090"/>
            </a:solidFill>
            <a:prstDash val="solid"/>
          </a:ln>
        </p:spPr>
      </p:sp>
      <p:sp>
        <p:nvSpPr>
          <p:cNvPr id="24" name="Shape 19"/>
          <p:cNvSpPr/>
          <p:nvPr/>
        </p:nvSpPr>
        <p:spPr>
          <a:xfrm>
            <a:off x="7584948" y="2331720"/>
            <a:ext cx="585216" cy="585216"/>
          </a:xfrm>
          <a:prstGeom prst="ellipse">
            <a:avLst/>
          </a:prstGeom>
          <a:solidFill>
            <a:srgbClr val="028090"/>
          </a:solidFill>
          <a:ln/>
        </p:spPr>
      </p:sp>
      <p:pic>
        <p:nvPicPr>
          <p:cNvPr id="25" name="Image 3" descr="icons/brain.png"/>
          <p:cNvPicPr>
            <a:picLocks noChangeAspect="1"/>
          </p:cNvPicPr>
          <p:nvPr/>
        </p:nvPicPr>
        <p:blipFill>
          <a:blip r:embed="rId6"/>
          <a:stretch>
            <a:fillRect/>
          </a:stretch>
        </p:blipFill>
        <p:spPr>
          <a:xfrm>
            <a:off x="7649322" y="2396094"/>
            <a:ext cx="456468" cy="456468"/>
          </a:xfrm>
          <a:prstGeom prst="rect">
            <a:avLst/>
          </a:prstGeom>
        </p:spPr>
      </p:pic>
      <p:sp>
        <p:nvSpPr>
          <p:cNvPr id="26" name="Text 20"/>
          <p:cNvSpPr txBox="1"/>
          <p:nvPr/>
        </p:nvSpPr>
        <p:spPr>
          <a:xfrm>
            <a:off x="7031736" y="3044952"/>
            <a:ext cx="1691640" cy="3200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TF-IDF + LogReg</a:t>
            </a:r>
            <a:endParaRPr lang="en-US" sz="1150" dirty="0"/>
          </a:p>
        </p:txBody>
      </p:sp>
      <p:sp>
        <p:nvSpPr>
          <p:cNvPr id="27" name="Text 21"/>
          <p:cNvSpPr txBox="1"/>
          <p:nvPr/>
        </p:nvSpPr>
        <p:spPr>
          <a:xfrm>
            <a:off x="7031736" y="3337560"/>
            <a:ext cx="1691640" cy="320040"/>
          </a:xfrm>
          <a:prstGeom prst="rect">
            <a:avLst/>
          </a:prstGeom>
          <a:noFill/>
          <a:ln/>
        </p:spPr>
        <p:txBody>
          <a:bodyPr wrap="square" lIns="0" tIns="0" rIns="0" bIns="0" rtlCol="0" anchor="ctr"/>
          <a:lstStyle/>
          <a:p>
            <a:pPr marL="0" indent="0" algn="ctr">
              <a:buNone/>
            </a:pPr>
            <a:r>
              <a:rPr lang="en-US" sz="1050" dirty="0">
                <a:solidFill>
                  <a:srgbClr val="9FC6C9"/>
                </a:solidFill>
                <a:latin typeface="Calibri" pitchFamily="34" charset="0"/>
                <a:ea typeface="Calibri" pitchFamily="34" charset="-122"/>
                <a:cs typeface="Calibri" pitchFamily="34" charset="-120"/>
              </a:rPr>
              <a:t>predicts intent</a:t>
            </a:r>
            <a:endParaRPr lang="en-US" sz="1050" dirty="0"/>
          </a:p>
        </p:txBody>
      </p:sp>
      <p:sp>
        <p:nvSpPr>
          <p:cNvPr id="28" name="Text 22"/>
          <p:cNvSpPr txBox="1"/>
          <p:nvPr/>
        </p:nvSpPr>
        <p:spPr>
          <a:xfrm>
            <a:off x="8814816" y="2651760"/>
            <a:ext cx="256032" cy="457200"/>
          </a:xfrm>
          <a:prstGeom prst="rect">
            <a:avLst/>
          </a:prstGeom>
          <a:noFill/>
          <a:ln/>
        </p:spPr>
        <p:txBody>
          <a:bodyPr wrap="square" lIns="0" tIns="0" rIns="0" bIns="0" rtlCol="0" anchor="ctr"/>
          <a:lstStyle/>
          <a:p>
            <a:pPr marL="0" indent="0" algn="ctr">
              <a:buNone/>
            </a:pPr>
            <a:r>
              <a:rPr lang="en-US" sz="2000" b="1" dirty="0">
                <a:solidFill>
                  <a:srgbClr val="02C39A"/>
                </a:solidFill>
                <a:latin typeface="Arial" pitchFamily="34" charset="0"/>
                <a:ea typeface="Arial" pitchFamily="34" charset="-122"/>
                <a:cs typeface="Arial" pitchFamily="34" charset="-120"/>
              </a:rPr>
              <a:t>→</a:t>
            </a:r>
            <a:endParaRPr lang="en-US" sz="2000" dirty="0"/>
          </a:p>
        </p:txBody>
      </p:sp>
      <p:sp>
        <p:nvSpPr>
          <p:cNvPr id="29" name="Shape 23"/>
          <p:cNvSpPr/>
          <p:nvPr/>
        </p:nvSpPr>
        <p:spPr>
          <a:xfrm>
            <a:off x="9070848" y="2148840"/>
            <a:ext cx="1874520" cy="1554480"/>
          </a:xfrm>
          <a:prstGeom prst="roundRect">
            <a:avLst>
              <a:gd name="adj" fmla="val 5294"/>
            </a:avLst>
          </a:prstGeom>
          <a:solidFill>
            <a:srgbClr val="10395A"/>
          </a:solidFill>
          <a:ln w="12700">
            <a:solidFill>
              <a:srgbClr val="028090"/>
            </a:solidFill>
            <a:prstDash val="solid"/>
          </a:ln>
        </p:spPr>
      </p:sp>
      <p:sp>
        <p:nvSpPr>
          <p:cNvPr id="30" name="Shape 24"/>
          <p:cNvSpPr/>
          <p:nvPr/>
        </p:nvSpPr>
        <p:spPr>
          <a:xfrm>
            <a:off x="9715500" y="2331720"/>
            <a:ext cx="585216" cy="585216"/>
          </a:xfrm>
          <a:prstGeom prst="ellipse">
            <a:avLst/>
          </a:prstGeom>
          <a:solidFill>
            <a:srgbClr val="028090"/>
          </a:solidFill>
          <a:ln/>
        </p:spPr>
      </p:sp>
      <p:pic>
        <p:nvPicPr>
          <p:cNvPr id="31" name="Image 4" descr="icons/database.png"/>
          <p:cNvPicPr>
            <a:picLocks noChangeAspect="1"/>
          </p:cNvPicPr>
          <p:nvPr/>
        </p:nvPicPr>
        <p:blipFill>
          <a:blip r:embed="rId7"/>
          <a:stretch>
            <a:fillRect/>
          </a:stretch>
        </p:blipFill>
        <p:spPr>
          <a:xfrm>
            <a:off x="9779874" y="2396094"/>
            <a:ext cx="456468" cy="456468"/>
          </a:xfrm>
          <a:prstGeom prst="rect">
            <a:avLst/>
          </a:prstGeom>
        </p:spPr>
      </p:pic>
      <p:sp>
        <p:nvSpPr>
          <p:cNvPr id="32" name="Text 25"/>
          <p:cNvSpPr txBox="1"/>
          <p:nvPr/>
        </p:nvSpPr>
        <p:spPr>
          <a:xfrm>
            <a:off x="9162288" y="3044952"/>
            <a:ext cx="1691640" cy="3200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Cosine Retrieval</a:t>
            </a:r>
            <a:endParaRPr lang="en-US" sz="1150" dirty="0"/>
          </a:p>
        </p:txBody>
      </p:sp>
      <p:sp>
        <p:nvSpPr>
          <p:cNvPr id="33" name="Text 26"/>
          <p:cNvSpPr txBox="1"/>
          <p:nvPr/>
        </p:nvSpPr>
        <p:spPr>
          <a:xfrm>
            <a:off x="9162288" y="3337560"/>
            <a:ext cx="1691640" cy="320040"/>
          </a:xfrm>
          <a:prstGeom prst="rect">
            <a:avLst/>
          </a:prstGeom>
          <a:noFill/>
          <a:ln/>
        </p:spPr>
        <p:txBody>
          <a:bodyPr wrap="square" lIns="0" tIns="0" rIns="0" bIns="0" rtlCol="0" anchor="ctr"/>
          <a:lstStyle/>
          <a:p>
            <a:pPr marL="0" indent="0" algn="ctr">
              <a:buNone/>
            </a:pPr>
            <a:r>
              <a:rPr lang="en-US" sz="1050" dirty="0">
                <a:solidFill>
                  <a:srgbClr val="9FC6C9"/>
                </a:solidFill>
                <a:latin typeface="Calibri" pitchFamily="34" charset="0"/>
                <a:ea typeface="Calibri" pitchFamily="34" charset="-122"/>
                <a:cs typeface="Calibri" pitchFamily="34" charset="-120"/>
              </a:rPr>
              <a:t>best answer in-intent</a:t>
            </a:r>
            <a:endParaRPr lang="en-US" sz="1050" dirty="0"/>
          </a:p>
        </p:txBody>
      </p:sp>
      <p:sp>
        <p:nvSpPr>
          <p:cNvPr id="34" name="Shape 27"/>
          <p:cNvSpPr/>
          <p:nvPr/>
        </p:nvSpPr>
        <p:spPr>
          <a:xfrm>
            <a:off x="548640" y="4114800"/>
            <a:ext cx="5212080" cy="1417320"/>
          </a:xfrm>
          <a:prstGeom prst="roundRect">
            <a:avLst>
              <a:gd name="adj" fmla="val 5806"/>
            </a:avLst>
          </a:prstGeom>
          <a:solidFill>
            <a:srgbClr val="00A896"/>
          </a:solidFill>
          <a:ln/>
        </p:spPr>
      </p:sp>
      <p:sp>
        <p:nvSpPr>
          <p:cNvPr id="35" name="Shape 28"/>
          <p:cNvSpPr/>
          <p:nvPr/>
        </p:nvSpPr>
        <p:spPr>
          <a:xfrm>
            <a:off x="777240" y="4279392"/>
            <a:ext cx="548640" cy="548640"/>
          </a:xfrm>
          <a:prstGeom prst="ellipse">
            <a:avLst/>
          </a:prstGeom>
          <a:solidFill>
            <a:srgbClr val="0B2545"/>
          </a:solidFill>
          <a:ln/>
        </p:spPr>
      </p:sp>
      <p:pic>
        <p:nvPicPr>
          <p:cNvPr id="36" name="Image 5" descr="icons/check.png"/>
          <p:cNvPicPr>
            <a:picLocks noChangeAspect="1"/>
          </p:cNvPicPr>
          <p:nvPr/>
        </p:nvPicPr>
        <p:blipFill>
          <a:blip r:embed="rId8"/>
          <a:stretch>
            <a:fillRect/>
          </a:stretch>
        </p:blipFill>
        <p:spPr>
          <a:xfrm>
            <a:off x="837590" y="4339742"/>
            <a:ext cx="427939" cy="427939"/>
          </a:xfrm>
          <a:prstGeom prst="rect">
            <a:avLst/>
          </a:prstGeom>
        </p:spPr>
      </p:pic>
      <p:sp>
        <p:nvSpPr>
          <p:cNvPr id="37" name="Text 29"/>
          <p:cNvSpPr txBox="1"/>
          <p:nvPr/>
        </p:nvSpPr>
        <p:spPr>
          <a:xfrm>
            <a:off x="1463040" y="4224528"/>
            <a:ext cx="41148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High confidence (≥ 0.35)</a:t>
            </a:r>
            <a:endParaRPr lang="en-US" sz="1300" dirty="0"/>
          </a:p>
        </p:txBody>
      </p:sp>
      <p:sp>
        <p:nvSpPr>
          <p:cNvPr id="38" name="Text 30"/>
          <p:cNvSpPr txBox="1"/>
          <p:nvPr/>
        </p:nvSpPr>
        <p:spPr>
          <a:xfrm>
            <a:off x="1463040" y="4553712"/>
            <a:ext cx="4114800" cy="822960"/>
          </a:xfrm>
          <a:prstGeom prst="rect">
            <a:avLst/>
          </a:prstGeom>
          <a:noFill/>
          <a:ln/>
        </p:spPr>
        <p:txBody>
          <a:bodyPr wrap="square" lIns="0" tIns="0" rIns="0" bIns="0" rtlCol="0" anchor="ctr"/>
          <a:lstStyle/>
          <a:p>
            <a:pPr marL="0" indent="0">
              <a:buNone/>
            </a:pPr>
            <a:r>
              <a:rPr lang="en-US" sz="1100" dirty="0">
                <a:solidFill>
                  <a:srgbClr val="E5F6F5"/>
                </a:solidFill>
                <a:latin typeface="Calibri" pitchFamily="34" charset="0"/>
                <a:ea typeface="Calibri" pitchFamily="34" charset="-122"/>
                <a:cs typeface="Calibri" pitchFamily="34" charset="-120"/>
              </a:rPr>
              <a:t>Return the most similar verified answer within the predicted intent — grounded in the dataset, not generated.</a:t>
            </a:r>
            <a:endParaRPr lang="en-US" sz="1100" dirty="0"/>
          </a:p>
        </p:txBody>
      </p:sp>
      <p:sp>
        <p:nvSpPr>
          <p:cNvPr id="39" name="Shape 31"/>
          <p:cNvSpPr/>
          <p:nvPr/>
        </p:nvSpPr>
        <p:spPr>
          <a:xfrm>
            <a:off x="6035040" y="4114800"/>
            <a:ext cx="5394960" cy="1417320"/>
          </a:xfrm>
          <a:prstGeom prst="roundRect">
            <a:avLst>
              <a:gd name="adj" fmla="val 5806"/>
            </a:avLst>
          </a:prstGeom>
          <a:solidFill>
            <a:srgbClr val="0F5E68"/>
          </a:solidFill>
          <a:ln w="12700">
            <a:solidFill>
              <a:srgbClr val="02C39A"/>
            </a:solidFill>
            <a:prstDash val="solid"/>
          </a:ln>
        </p:spPr>
      </p:sp>
      <p:sp>
        <p:nvSpPr>
          <p:cNvPr id="40" name="Shape 32"/>
          <p:cNvSpPr/>
          <p:nvPr/>
        </p:nvSpPr>
        <p:spPr>
          <a:xfrm>
            <a:off x="6263640" y="4279392"/>
            <a:ext cx="548640" cy="548640"/>
          </a:xfrm>
          <a:prstGeom prst="ellipse">
            <a:avLst/>
          </a:prstGeom>
          <a:solidFill>
            <a:srgbClr val="02C39A"/>
          </a:solidFill>
          <a:ln/>
        </p:spPr>
      </p:sp>
      <p:pic>
        <p:nvPicPr>
          <p:cNvPr id="41" name="Image 6" descr="icons/bolt.png"/>
          <p:cNvPicPr>
            <a:picLocks noChangeAspect="1"/>
          </p:cNvPicPr>
          <p:nvPr/>
        </p:nvPicPr>
        <p:blipFill>
          <a:blip r:embed="rId9"/>
          <a:stretch>
            <a:fillRect/>
          </a:stretch>
        </p:blipFill>
        <p:spPr>
          <a:xfrm>
            <a:off x="6323990" y="4339742"/>
            <a:ext cx="427939" cy="427939"/>
          </a:xfrm>
          <a:prstGeom prst="rect">
            <a:avLst/>
          </a:prstGeom>
        </p:spPr>
      </p:pic>
      <p:sp>
        <p:nvSpPr>
          <p:cNvPr id="42" name="Text 33"/>
          <p:cNvSpPr txBox="1"/>
          <p:nvPr/>
        </p:nvSpPr>
        <p:spPr>
          <a:xfrm>
            <a:off x="6949440" y="4224528"/>
            <a:ext cx="42976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Low confidence (&lt; 0.35)</a:t>
            </a:r>
            <a:endParaRPr lang="en-US" sz="1300" dirty="0"/>
          </a:p>
        </p:txBody>
      </p:sp>
      <p:sp>
        <p:nvSpPr>
          <p:cNvPr id="43" name="Text 34"/>
          <p:cNvSpPr txBox="1"/>
          <p:nvPr/>
        </p:nvSpPr>
        <p:spPr>
          <a:xfrm>
            <a:off x="6949440" y="4553712"/>
            <a:ext cx="4297680" cy="822960"/>
          </a:xfrm>
          <a:prstGeom prst="rect">
            <a:avLst/>
          </a:prstGeom>
          <a:noFill/>
          <a:ln/>
        </p:spPr>
        <p:txBody>
          <a:bodyPr wrap="square" lIns="0" tIns="0" rIns="0" bIns="0" rtlCol="0" anchor="ctr"/>
          <a:lstStyle/>
          <a:p>
            <a:pPr marL="0" indent="0">
              <a:buNone/>
            </a:pPr>
            <a:r>
              <a:rPr lang="en-US" sz="1100" dirty="0">
                <a:solidFill>
                  <a:srgbClr val="E5F6F5"/>
                </a:solidFill>
                <a:latin typeface="Calibri" pitchFamily="34" charset="0"/>
                <a:ea typeface="Calibri" pitchFamily="34" charset="-122"/>
                <a:cs typeface="Calibri" pitchFamily="34" charset="-120"/>
              </a:rPr>
              <a:t>Fall back to the Groq LLM for an on-the-fly answer, or a safe default message if Groq isn't configured.</a:t>
            </a:r>
            <a:endParaRPr lang="en-US" sz="1100" dirty="0"/>
          </a:p>
        </p:txBody>
      </p:sp>
      <p:sp>
        <p:nvSpPr>
          <p:cNvPr id="44" name="Text 35"/>
          <p:cNvSpPr txBox="1"/>
          <p:nvPr/>
        </p:nvSpPr>
        <p:spPr>
          <a:xfrm>
            <a:off x="548640" y="5806440"/>
            <a:ext cx="11064240" cy="457200"/>
          </a:xfrm>
          <a:prstGeom prst="rect">
            <a:avLst/>
          </a:prstGeom>
          <a:noFill/>
          <a:ln/>
        </p:spPr>
        <p:txBody>
          <a:bodyPr wrap="square" lIns="0" tIns="0" rIns="0" bIns="0" rtlCol="0" anchor="ctr"/>
          <a:lstStyle/>
          <a:p>
            <a:pPr marL="0" indent="0">
              <a:buNone/>
            </a:pPr>
            <a:r>
              <a:rPr lang="en-US" sz="1100" i="1" dirty="0">
                <a:solidFill>
                  <a:srgbClr val="6E93A8"/>
                </a:solidFill>
                <a:latin typeface="Calibri" pitchFamily="34" charset="0"/>
                <a:ea typeface="Calibri" pitchFamily="34" charset="-122"/>
                <a:cs typeface="Calibri" pitchFamily="34" charset="-120"/>
              </a:rPr>
              <a:t>Greeting handling and exact-match short-circuits run before ML classification for instant replies to hi/hello and identical dataset questions.</a:t>
            </a:r>
            <a:endParaRPr lang="en-US" sz="1100" dirty="0"/>
          </a:p>
        </p:txBody>
      </p:sp>
      <p:sp>
        <p:nvSpPr>
          <p:cNvPr id="45" name="Text 36"/>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6E93A8"/>
                </a:solidFill>
                <a:latin typeface="Calibri" pitchFamily="34" charset="0"/>
                <a:ea typeface="Calibri" pitchFamily="34" charset="-122"/>
                <a:cs typeface="Calibri" pitchFamily="34" charset="-120"/>
              </a:rPr>
              <a:t>05</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22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22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22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22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22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22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wipe(left)">
                                      <p:cBhvr>
                                        <p:cTn id="107" dur="22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22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220"/>
                                        <p:tgtEl>
                                          <p:spTgt spid="24"/>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22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220"/>
                                        <p:tgtEl>
                                          <p:spTgt spid="26"/>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wipe(left)">
                                      <p:cBhvr>
                                        <p:cTn id="132" dur="220"/>
                                        <p:tgtEl>
                                          <p:spTgt spid="27"/>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220"/>
                                        <p:tgtEl>
                                          <p:spTgt spid="28"/>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220"/>
                                        <p:tgtEl>
                                          <p:spTgt spid="29"/>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220"/>
                                        <p:tgtEl>
                                          <p:spTgt spid="30"/>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220"/>
                                        <p:tgtEl>
                                          <p:spTgt spid="31"/>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32"/>
                                        </p:tgtEl>
                                        <p:attrNameLst>
                                          <p:attrName>style.visibility</p:attrName>
                                        </p:attrNameLst>
                                      </p:cBhvr>
                                      <p:to>
                                        <p:strVal val="visible"/>
                                      </p:to>
                                    </p:set>
                                    <p:animEffect transition="in" filter="wipe(left)">
                                      <p:cBhvr>
                                        <p:cTn id="157" dur="220"/>
                                        <p:tgtEl>
                                          <p:spTgt spid="32"/>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grpId="0" nodeType="clickEffect">
                                  <p:stCondLst>
                                    <p:cond delay="0"/>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220"/>
                                        <p:tgtEl>
                                          <p:spTgt spid="33"/>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34"/>
                                        </p:tgtEl>
                                        <p:attrNameLst>
                                          <p:attrName>style.visibility</p:attrName>
                                        </p:attrNameLst>
                                      </p:cBhvr>
                                      <p:to>
                                        <p:strVal val="visible"/>
                                      </p:to>
                                    </p:set>
                                    <p:animEffect transition="in" filter="fade">
                                      <p:cBhvr>
                                        <p:cTn id="167" dur="220"/>
                                        <p:tgtEl>
                                          <p:spTgt spid="34"/>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220"/>
                                        <p:tgtEl>
                                          <p:spTgt spid="35"/>
                                        </p:tgtEl>
                                      </p:cBhvr>
                                    </p:animEffec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36"/>
                                        </p:tgtEl>
                                        <p:attrNameLst>
                                          <p:attrName>style.visibility</p:attrName>
                                        </p:attrNameLst>
                                      </p:cBhvr>
                                      <p:to>
                                        <p:strVal val="visible"/>
                                      </p:to>
                                    </p:set>
                                    <p:animEffect transition="in" filter="fade">
                                      <p:cBhvr>
                                        <p:cTn id="177" dur="220"/>
                                        <p:tgtEl>
                                          <p:spTgt spid="36"/>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0" nodeType="clickEffect">
                                  <p:stCondLst>
                                    <p:cond delay="0"/>
                                  </p:stCondLst>
                                  <p:childTnLst>
                                    <p:set>
                                      <p:cBhvr>
                                        <p:cTn id="181" dur="1" fill="hold">
                                          <p:stCondLst>
                                            <p:cond delay="0"/>
                                          </p:stCondLst>
                                        </p:cTn>
                                        <p:tgtEl>
                                          <p:spTgt spid="37"/>
                                        </p:tgtEl>
                                        <p:attrNameLst>
                                          <p:attrName>style.visibility</p:attrName>
                                        </p:attrNameLst>
                                      </p:cBhvr>
                                      <p:to>
                                        <p:strVal val="visible"/>
                                      </p:to>
                                    </p:set>
                                    <p:animEffect transition="in" filter="wipe(left)">
                                      <p:cBhvr>
                                        <p:cTn id="182" dur="220"/>
                                        <p:tgtEl>
                                          <p:spTgt spid="37"/>
                                        </p:tgtEl>
                                      </p:cBhvr>
                                    </p:animEffect>
                                  </p:childTnLst>
                                </p:cTn>
                              </p:par>
                            </p:childTnLst>
                          </p:cTn>
                        </p:par>
                      </p:childTnLst>
                    </p:cTn>
                  </p:par>
                  <p:par>
                    <p:cTn id="183" fill="hold">
                      <p:stCondLst>
                        <p:cond delay="indefinite"/>
                      </p:stCondLst>
                      <p:childTnLst>
                        <p:par>
                          <p:cTn id="184" fill="hold">
                            <p:stCondLst>
                              <p:cond delay="0"/>
                            </p:stCondLst>
                            <p:childTnLst>
                              <p:par>
                                <p:cTn id="185" presetID="10" presetClass="entr" presetSubtype="0" fill="hold" grpId="0" nodeType="clickEffect">
                                  <p:stCondLst>
                                    <p:cond delay="0"/>
                                  </p:stCondLst>
                                  <p:childTnLst>
                                    <p:set>
                                      <p:cBhvr>
                                        <p:cTn id="186" dur="1" fill="hold">
                                          <p:stCondLst>
                                            <p:cond delay="0"/>
                                          </p:stCondLst>
                                        </p:cTn>
                                        <p:tgtEl>
                                          <p:spTgt spid="38"/>
                                        </p:tgtEl>
                                        <p:attrNameLst>
                                          <p:attrName>style.visibility</p:attrName>
                                        </p:attrNameLst>
                                      </p:cBhvr>
                                      <p:to>
                                        <p:strVal val="visible"/>
                                      </p:to>
                                    </p:set>
                                    <p:animEffect transition="in" filter="fade">
                                      <p:cBhvr>
                                        <p:cTn id="187" dur="220"/>
                                        <p:tgtEl>
                                          <p:spTgt spid="38"/>
                                        </p:tgtEl>
                                      </p:cBhvr>
                                    </p:animEffect>
                                  </p:childTnLst>
                                </p:cTn>
                              </p:par>
                            </p:childTnLst>
                          </p:cTn>
                        </p:par>
                      </p:childTnLst>
                    </p:cTn>
                  </p:par>
                  <p:par>
                    <p:cTn id="188" fill="hold">
                      <p:stCondLst>
                        <p:cond delay="indefinite"/>
                      </p:stCondLst>
                      <p:childTnLst>
                        <p:par>
                          <p:cTn id="189" fill="hold">
                            <p:stCondLst>
                              <p:cond delay="0"/>
                            </p:stCondLst>
                            <p:childTnLst>
                              <p:par>
                                <p:cTn id="190" presetID="10" presetClass="entr" presetSubtype="0" fill="hold" grpId="0" nodeType="clickEffect">
                                  <p:stCondLst>
                                    <p:cond delay="0"/>
                                  </p:stCondLst>
                                  <p:childTnLst>
                                    <p:set>
                                      <p:cBhvr>
                                        <p:cTn id="191" dur="1" fill="hold">
                                          <p:stCondLst>
                                            <p:cond delay="0"/>
                                          </p:stCondLst>
                                        </p:cTn>
                                        <p:tgtEl>
                                          <p:spTgt spid="39"/>
                                        </p:tgtEl>
                                        <p:attrNameLst>
                                          <p:attrName>style.visibility</p:attrName>
                                        </p:attrNameLst>
                                      </p:cBhvr>
                                      <p:to>
                                        <p:strVal val="visible"/>
                                      </p:to>
                                    </p:set>
                                    <p:animEffect transition="in" filter="fade">
                                      <p:cBhvr>
                                        <p:cTn id="192" dur="220"/>
                                        <p:tgtEl>
                                          <p:spTgt spid="39"/>
                                        </p:tgtEl>
                                      </p:cBhvr>
                                    </p:animEffect>
                                  </p:childTnLst>
                                </p:cTn>
                              </p:par>
                            </p:childTnLst>
                          </p:cTn>
                        </p:par>
                      </p:childTnLst>
                    </p:cTn>
                  </p:par>
                  <p:par>
                    <p:cTn id="193" fill="hold">
                      <p:stCondLst>
                        <p:cond delay="indefinite"/>
                      </p:stCondLst>
                      <p:childTnLst>
                        <p:par>
                          <p:cTn id="194" fill="hold">
                            <p:stCondLst>
                              <p:cond delay="0"/>
                            </p:stCondLst>
                            <p:childTnLst>
                              <p:par>
                                <p:cTn id="195" presetID="10" presetClass="entr" presetSubtype="0" fill="hold" grpId="0" nodeType="clickEffect">
                                  <p:stCondLst>
                                    <p:cond delay="0"/>
                                  </p:stCondLst>
                                  <p:childTnLst>
                                    <p:set>
                                      <p:cBhvr>
                                        <p:cTn id="196" dur="1" fill="hold">
                                          <p:stCondLst>
                                            <p:cond delay="0"/>
                                          </p:stCondLst>
                                        </p:cTn>
                                        <p:tgtEl>
                                          <p:spTgt spid="40"/>
                                        </p:tgtEl>
                                        <p:attrNameLst>
                                          <p:attrName>style.visibility</p:attrName>
                                        </p:attrNameLst>
                                      </p:cBhvr>
                                      <p:to>
                                        <p:strVal val="visible"/>
                                      </p:to>
                                    </p:set>
                                    <p:animEffect transition="in" filter="fade">
                                      <p:cBhvr>
                                        <p:cTn id="197" dur="220"/>
                                        <p:tgtEl>
                                          <p:spTgt spid="40"/>
                                        </p:tgtEl>
                                      </p:cBhvr>
                                    </p:animEffect>
                                  </p:childTnLst>
                                </p:cTn>
                              </p:par>
                            </p:childTnLst>
                          </p:cTn>
                        </p:par>
                      </p:childTnLst>
                    </p:cTn>
                  </p:par>
                  <p:par>
                    <p:cTn id="198" fill="hold">
                      <p:stCondLst>
                        <p:cond delay="indefinite"/>
                      </p:stCondLst>
                      <p:childTnLst>
                        <p:par>
                          <p:cTn id="199" fill="hold">
                            <p:stCondLst>
                              <p:cond delay="0"/>
                            </p:stCondLst>
                            <p:childTnLst>
                              <p:par>
                                <p:cTn id="200" presetID="10" presetClass="entr" presetSubtype="0" fill="hold" grpId="0" nodeType="clickEffect">
                                  <p:stCondLst>
                                    <p:cond delay="0"/>
                                  </p:stCondLst>
                                  <p:childTnLst>
                                    <p:set>
                                      <p:cBhvr>
                                        <p:cTn id="201" dur="1" fill="hold">
                                          <p:stCondLst>
                                            <p:cond delay="0"/>
                                          </p:stCondLst>
                                        </p:cTn>
                                        <p:tgtEl>
                                          <p:spTgt spid="41"/>
                                        </p:tgtEl>
                                        <p:attrNameLst>
                                          <p:attrName>style.visibility</p:attrName>
                                        </p:attrNameLst>
                                      </p:cBhvr>
                                      <p:to>
                                        <p:strVal val="visible"/>
                                      </p:to>
                                    </p:set>
                                    <p:animEffect transition="in" filter="fade">
                                      <p:cBhvr>
                                        <p:cTn id="202" dur="220"/>
                                        <p:tgtEl>
                                          <p:spTgt spid="41"/>
                                        </p:tgtEl>
                                      </p:cBhvr>
                                    </p:animEffect>
                                  </p:childTnLst>
                                </p:cTn>
                              </p:par>
                            </p:childTnLst>
                          </p:cTn>
                        </p:par>
                      </p:childTnLst>
                    </p:cTn>
                  </p:par>
                  <p:par>
                    <p:cTn id="203" fill="hold">
                      <p:stCondLst>
                        <p:cond delay="indefinite"/>
                      </p:stCondLst>
                      <p:childTnLst>
                        <p:par>
                          <p:cTn id="204" fill="hold">
                            <p:stCondLst>
                              <p:cond delay="0"/>
                            </p:stCondLst>
                            <p:childTnLst>
                              <p:par>
                                <p:cTn id="205" presetID="22" presetClass="entr" presetSubtype="8" fill="hold" grpId="0" nodeType="clickEffect">
                                  <p:stCondLst>
                                    <p:cond delay="0"/>
                                  </p:stCondLst>
                                  <p:childTnLst>
                                    <p:set>
                                      <p:cBhvr>
                                        <p:cTn id="206" dur="1" fill="hold">
                                          <p:stCondLst>
                                            <p:cond delay="0"/>
                                          </p:stCondLst>
                                        </p:cTn>
                                        <p:tgtEl>
                                          <p:spTgt spid="42"/>
                                        </p:tgtEl>
                                        <p:attrNameLst>
                                          <p:attrName>style.visibility</p:attrName>
                                        </p:attrNameLst>
                                      </p:cBhvr>
                                      <p:to>
                                        <p:strVal val="visible"/>
                                      </p:to>
                                    </p:set>
                                    <p:animEffect transition="in" filter="wipe(left)">
                                      <p:cBhvr>
                                        <p:cTn id="207" dur="220"/>
                                        <p:tgtEl>
                                          <p:spTgt spid="42"/>
                                        </p:tgtEl>
                                      </p:cBhvr>
                                    </p:animEffect>
                                  </p:childTnLst>
                                </p:cTn>
                              </p:par>
                            </p:childTnLst>
                          </p:cTn>
                        </p:par>
                      </p:childTnLst>
                    </p:cTn>
                  </p:par>
                  <p:par>
                    <p:cTn id="208" fill="hold">
                      <p:stCondLst>
                        <p:cond delay="indefinite"/>
                      </p:stCondLst>
                      <p:childTnLst>
                        <p:par>
                          <p:cTn id="209" fill="hold">
                            <p:stCondLst>
                              <p:cond delay="0"/>
                            </p:stCondLst>
                            <p:childTnLst>
                              <p:par>
                                <p:cTn id="210" presetID="10" presetClass="entr" presetSubtype="0" fill="hold" grpId="0" nodeType="clickEffect">
                                  <p:stCondLst>
                                    <p:cond delay="0"/>
                                  </p:stCondLst>
                                  <p:childTnLst>
                                    <p:set>
                                      <p:cBhvr>
                                        <p:cTn id="211" dur="1" fill="hold">
                                          <p:stCondLst>
                                            <p:cond delay="0"/>
                                          </p:stCondLst>
                                        </p:cTn>
                                        <p:tgtEl>
                                          <p:spTgt spid="43"/>
                                        </p:tgtEl>
                                        <p:attrNameLst>
                                          <p:attrName>style.visibility</p:attrName>
                                        </p:attrNameLst>
                                      </p:cBhvr>
                                      <p:to>
                                        <p:strVal val="visible"/>
                                      </p:to>
                                    </p:set>
                                    <p:animEffect transition="in" filter="fade">
                                      <p:cBhvr>
                                        <p:cTn id="212" dur="220"/>
                                        <p:tgtEl>
                                          <p:spTgt spid="43"/>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ntr" presetSubtype="0" fill="hold" grpId="0" nodeType="clickEffect">
                                  <p:stCondLst>
                                    <p:cond delay="0"/>
                                  </p:stCondLst>
                                  <p:childTnLst>
                                    <p:set>
                                      <p:cBhvr>
                                        <p:cTn id="216" dur="1" fill="hold">
                                          <p:stCondLst>
                                            <p:cond delay="0"/>
                                          </p:stCondLst>
                                        </p:cTn>
                                        <p:tgtEl>
                                          <p:spTgt spid="44"/>
                                        </p:tgtEl>
                                        <p:attrNameLst>
                                          <p:attrName>style.visibility</p:attrName>
                                        </p:attrNameLst>
                                      </p:cBhvr>
                                      <p:to>
                                        <p:strVal val="visible"/>
                                      </p:to>
                                    </p:set>
                                    <p:animEffect transition="in" filter="fade">
                                      <p:cBhvr>
                                        <p:cTn id="217" dur="220"/>
                                        <p:tgtEl>
                                          <p:spTgt spid="44"/>
                                        </p:tgtEl>
                                      </p:cBhvr>
                                    </p:animEffect>
                                  </p:childTnLst>
                                </p:cTn>
                              </p:par>
                            </p:childTnLst>
                          </p:cTn>
                        </p:par>
                      </p:childTnLst>
                    </p:cTn>
                  </p:par>
                  <p:par>
                    <p:cTn id="218" fill="hold">
                      <p:stCondLst>
                        <p:cond delay="indefinite"/>
                      </p:stCondLst>
                      <p:childTnLst>
                        <p:par>
                          <p:cTn id="219" fill="hold">
                            <p:stCondLst>
                              <p:cond delay="0"/>
                            </p:stCondLst>
                            <p:childTnLst>
                              <p:par>
                                <p:cTn id="220" presetID="10" presetClass="entr" presetSubtype="0" fill="hold" grpId="0" nodeType="clickEffect">
                                  <p:stCondLst>
                                    <p:cond delay="0"/>
                                  </p:stCondLst>
                                  <p:childTnLst>
                                    <p:set>
                                      <p:cBhvr>
                                        <p:cTn id="221" dur="1" fill="hold">
                                          <p:stCondLst>
                                            <p:cond delay="0"/>
                                          </p:stCondLst>
                                        </p:cTn>
                                        <p:tgtEl>
                                          <p:spTgt spid="45"/>
                                        </p:tgtEl>
                                        <p:attrNameLst>
                                          <p:attrName>style.visibility</p:attrName>
                                        </p:attrNameLst>
                                      </p:cBhvr>
                                      <p:to>
                                        <p:strVal val="visible"/>
                                      </p:to>
                                    </p:set>
                                    <p:animEffect transition="in" filter="fade">
                                      <p:cBhvr>
                                        <p:cTn id="222" dur="22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p:bldP spid="8" grpId="0" animBg="1"/>
      <p:bldP spid="9" grpId="0" animBg="1"/>
      <p:bldP spid="10" grpId="0" animBg="1"/>
      <p:bldP spid="11" grpId="0" animBg="1"/>
      <p:bldP spid="12" grpId="0" animBg="1"/>
      <p:bldP spid="13" grpId="0"/>
      <p:bldP spid="14" grpId="0" animBg="1"/>
      <p:bldP spid="15" grpId="0" animBg="1"/>
      <p:bldP spid="16" grpId="0" animBg="1"/>
      <p:bldP spid="17" grpId="0" animBg="1"/>
      <p:bldP spid="18" grpId="0" animBg="1"/>
      <p:bldP spid="19" grpId="0"/>
      <p:bldP spid="20" grpId="0" animBg="1"/>
      <p:bldP spid="21" grpId="0" animBg="1"/>
      <p:bldP spid="22" grpId="0" animBg="1"/>
      <p:bldP spid="23" grpId="0" animBg="1"/>
      <p:bldP spid="24" grpId="0" animBg="1"/>
      <p:bldP spid="25" grpId="0"/>
      <p:bldP spid="26" grpId="0" animBg="1"/>
      <p:bldP spid="27" grpId="0" animBg="1"/>
      <p:bldP spid="28" grpId="0" animBg="1"/>
      <p:bldP spid="29" grpId="0" animBg="1"/>
      <p:bldP spid="30" grpId="0" animBg="1"/>
      <p:bldP spid="31" grpId="0"/>
      <p:bldP spid="32" grpId="0" animBg="1"/>
      <p:bldP spid="33" grpId="0" animBg="1"/>
      <p:bldP spid="34" grpId="0" animBg="1"/>
      <p:bldP spid="35" grpId="0" animBg="1"/>
      <p:bldP spid="36" grpId="0"/>
      <p:bldP spid="37" grpId="0" animBg="1"/>
      <p:bldP spid="38" grpId="0" animBg="1"/>
      <p:bldP spid="39" grpId="0" animBg="1"/>
      <p:bldP spid="40" grpId="0" animBg="1"/>
      <p:bldP spid="41" grpId="0"/>
      <p:bldP spid="42" grpId="0" animBg="1"/>
      <p:bldP spid="43" grpId="0" animBg="1"/>
      <p:bldP spid="44" grpId="0" animBg="1"/>
      <p:bldP spid="4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TEAM STRUCTURE</a:t>
            </a:r>
            <a:endParaRPr lang="en-US" sz="1300" dirty="0"/>
          </a:p>
        </p:txBody>
      </p:sp>
      <p:sp>
        <p:nvSpPr>
          <p:cNvPr id="3" name="Text 1"/>
          <p:cNvSpPr txBox="1"/>
          <p:nvPr/>
        </p:nvSpPr>
        <p:spPr>
          <a:xfrm>
            <a:off x="548640" y="685800"/>
            <a:ext cx="7315200" cy="548640"/>
          </a:xfrm>
          <a:prstGeom prst="rect">
            <a:avLst/>
          </a:prstGeom>
          <a:noFill/>
          <a:ln/>
        </p:spPr>
        <p:txBody>
          <a:bodyPr wrap="square" lIns="0" tIns="0" rIns="0" bIns="0"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Meet the Team</a:t>
            </a:r>
            <a:endParaRPr lang="en-US" sz="3000" dirty="0"/>
          </a:p>
        </p:txBody>
      </p:sp>
      <p:sp>
        <p:nvSpPr>
          <p:cNvPr id="4" name="Shape 2"/>
          <p:cNvSpPr/>
          <p:nvPr/>
        </p:nvSpPr>
        <p:spPr>
          <a:xfrm>
            <a:off x="548640" y="1508760"/>
            <a:ext cx="11064240" cy="1051560"/>
          </a:xfrm>
          <a:prstGeom prst="roundRect">
            <a:avLst>
              <a:gd name="adj" fmla="val 6957"/>
            </a:avLst>
          </a:prstGeom>
          <a:solidFill>
            <a:srgbClr val="0B2545"/>
          </a:solidFill>
          <a:ln/>
        </p:spPr>
      </p:sp>
      <p:sp>
        <p:nvSpPr>
          <p:cNvPr id="5" name="Shape 3"/>
          <p:cNvSpPr/>
          <p:nvPr/>
        </p:nvSpPr>
        <p:spPr>
          <a:xfrm>
            <a:off x="822960" y="1737360"/>
            <a:ext cx="594360" cy="594360"/>
          </a:xfrm>
          <a:prstGeom prst="ellipse">
            <a:avLst/>
          </a:prstGeom>
          <a:solidFill>
            <a:srgbClr val="02C39A"/>
          </a:solidFill>
          <a:ln/>
        </p:spPr>
      </p:sp>
      <p:pic>
        <p:nvPicPr>
          <p:cNvPr id="6" name="Image 0" descr="icons/crown.png"/>
          <p:cNvPicPr>
            <a:picLocks noChangeAspect="1"/>
          </p:cNvPicPr>
          <p:nvPr/>
        </p:nvPicPr>
        <p:blipFill>
          <a:blip r:embed="rId3"/>
          <a:stretch>
            <a:fillRect/>
          </a:stretch>
        </p:blipFill>
        <p:spPr>
          <a:xfrm>
            <a:off x="888340" y="1802740"/>
            <a:ext cx="463601" cy="463601"/>
          </a:xfrm>
          <a:prstGeom prst="rect">
            <a:avLst/>
          </a:prstGeom>
        </p:spPr>
      </p:pic>
      <p:sp>
        <p:nvSpPr>
          <p:cNvPr id="7" name="Text 4"/>
          <p:cNvSpPr txBox="1"/>
          <p:nvPr/>
        </p:nvSpPr>
        <p:spPr>
          <a:xfrm>
            <a:off x="1600200" y="1627632"/>
            <a:ext cx="54864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Kumpati Kezia Jeshura</a:t>
            </a:r>
            <a:endParaRPr lang="en-US" sz="1800" dirty="0"/>
          </a:p>
        </p:txBody>
      </p:sp>
      <p:sp>
        <p:nvSpPr>
          <p:cNvPr id="8" name="Text 5"/>
          <p:cNvSpPr txBox="1"/>
          <p:nvPr/>
        </p:nvSpPr>
        <p:spPr>
          <a:xfrm>
            <a:off x="1600200" y="1993392"/>
            <a:ext cx="9692640" cy="45720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Team Lead &amp; Coordinator — oversees architecture, integration, and delivery across all three pairs</a:t>
            </a:r>
            <a:endParaRPr lang="en-US" sz="1200" dirty="0"/>
          </a:p>
        </p:txBody>
      </p:sp>
      <p:sp>
        <p:nvSpPr>
          <p:cNvPr id="9" name="Shape 6"/>
          <p:cNvSpPr/>
          <p:nvPr/>
        </p:nvSpPr>
        <p:spPr>
          <a:xfrm>
            <a:off x="548640" y="2880360"/>
            <a:ext cx="3538728" cy="2834640"/>
          </a:xfrm>
          <a:prstGeom prst="roundRect">
            <a:avLst>
              <a:gd name="adj" fmla="val 2581"/>
            </a:avLst>
          </a:prstGeom>
          <a:solidFill>
            <a:srgbClr val="FFFFFF"/>
          </a:solidFill>
          <a:ln w="12700">
            <a:solidFill>
              <a:srgbClr val="DCEEEC"/>
            </a:solidFill>
            <a:prstDash val="solid"/>
          </a:ln>
          <a:effectLst>
            <a:outerShdw blurRad="101600" dist="38100" dir="5400000" algn="bl" rotWithShape="0">
              <a:srgbClr val="1C7293">
                <a:alpha val="15000"/>
              </a:srgbClr>
            </a:outerShdw>
          </a:effectLst>
        </p:spPr>
      </p:sp>
      <p:sp>
        <p:nvSpPr>
          <p:cNvPr id="10" name="Shape 7"/>
          <p:cNvSpPr/>
          <p:nvPr/>
        </p:nvSpPr>
        <p:spPr>
          <a:xfrm>
            <a:off x="822960" y="3154680"/>
            <a:ext cx="640080" cy="640080"/>
          </a:xfrm>
          <a:prstGeom prst="ellipse">
            <a:avLst/>
          </a:prstGeom>
          <a:solidFill>
            <a:srgbClr val="028090"/>
          </a:solidFill>
          <a:ln/>
        </p:spPr>
      </p:sp>
      <p:pic>
        <p:nvPicPr>
          <p:cNvPr id="11" name="Image 1" descr="icons/database.png"/>
          <p:cNvPicPr>
            <a:picLocks noChangeAspect="1"/>
          </p:cNvPicPr>
          <p:nvPr/>
        </p:nvPicPr>
        <p:blipFill>
          <a:blip r:embed="rId4"/>
          <a:stretch>
            <a:fillRect/>
          </a:stretch>
        </p:blipFill>
        <p:spPr>
          <a:xfrm>
            <a:off x="893369" y="3225089"/>
            <a:ext cx="499262" cy="499262"/>
          </a:xfrm>
          <a:prstGeom prst="rect">
            <a:avLst/>
          </a:prstGeom>
        </p:spPr>
      </p:pic>
      <p:sp>
        <p:nvSpPr>
          <p:cNvPr id="12" name="Text 8"/>
          <p:cNvSpPr txBox="1"/>
          <p:nvPr/>
        </p:nvSpPr>
        <p:spPr>
          <a:xfrm>
            <a:off x="822960" y="3931920"/>
            <a:ext cx="2990088" cy="320040"/>
          </a:xfrm>
          <a:prstGeom prst="rect">
            <a:avLst/>
          </a:prstGeom>
          <a:noFill/>
          <a:ln/>
        </p:spPr>
        <p:txBody>
          <a:bodyPr wrap="square" lIns="0" tIns="0" rIns="0" bIns="0"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Pair 1</a:t>
            </a:r>
            <a:endParaRPr lang="en-US" sz="1400" dirty="0"/>
          </a:p>
        </p:txBody>
      </p:sp>
      <p:sp>
        <p:nvSpPr>
          <p:cNvPr id="13" name="Text 9"/>
          <p:cNvSpPr txBox="1"/>
          <p:nvPr/>
        </p:nvSpPr>
        <p:spPr>
          <a:xfrm>
            <a:off x="822960" y="4251960"/>
            <a:ext cx="2990088" cy="548640"/>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Shagil Shaik  &amp;  Waseem Khan</a:t>
            </a:r>
            <a:endParaRPr lang="en-US" sz="1400" dirty="0"/>
          </a:p>
        </p:txBody>
      </p:sp>
      <p:sp>
        <p:nvSpPr>
          <p:cNvPr id="14" name="Text 10"/>
          <p:cNvSpPr txBox="1"/>
          <p:nvPr/>
        </p:nvSpPr>
        <p:spPr>
          <a:xfrm>
            <a:off x="822960" y="4846320"/>
            <a:ext cx="2990088" cy="731520"/>
          </a:xfrm>
          <a:prstGeom prst="rect">
            <a:avLst/>
          </a:prstGeom>
          <a:noFill/>
          <a:ln/>
        </p:spPr>
        <p:txBody>
          <a:bodyPr wrap="square" lIns="0" tIns="0" rIns="0" bIns="0" rtlCol="0" anchor="ctr"/>
          <a:lstStyle/>
          <a:p>
            <a:pPr marL="0" indent="0">
              <a:buNone/>
            </a:pPr>
            <a:r>
              <a:rPr lang="en-US" sz="1200" dirty="0">
                <a:solidFill>
                  <a:srgbClr val="5C7A85"/>
                </a:solidFill>
                <a:latin typeface="Calibri" pitchFamily="34" charset="0"/>
                <a:ea typeface="Calibri" pitchFamily="34" charset="-122"/>
                <a:cs typeface="Calibri" pitchFamily="34" charset="-120"/>
              </a:rPr>
              <a:t>Dataset Preparation &amp; Cleaning</a:t>
            </a:r>
            <a:endParaRPr lang="en-US" sz="1200" dirty="0"/>
          </a:p>
        </p:txBody>
      </p:sp>
      <p:sp>
        <p:nvSpPr>
          <p:cNvPr id="15" name="Shape 11"/>
          <p:cNvSpPr/>
          <p:nvPr/>
        </p:nvSpPr>
        <p:spPr>
          <a:xfrm>
            <a:off x="4343400" y="2880360"/>
            <a:ext cx="3538728" cy="2834640"/>
          </a:xfrm>
          <a:prstGeom prst="roundRect">
            <a:avLst>
              <a:gd name="adj" fmla="val 2581"/>
            </a:avLst>
          </a:prstGeom>
          <a:solidFill>
            <a:srgbClr val="FFFFFF"/>
          </a:solidFill>
          <a:ln w="12700">
            <a:solidFill>
              <a:srgbClr val="DCEEEC"/>
            </a:solidFill>
            <a:prstDash val="solid"/>
          </a:ln>
          <a:effectLst>
            <a:outerShdw blurRad="101600" dist="38100" dir="5400000" algn="bl" rotWithShape="0">
              <a:srgbClr val="1C7293">
                <a:alpha val="15000"/>
              </a:srgbClr>
            </a:outerShdw>
          </a:effectLst>
        </p:spPr>
      </p:sp>
      <p:sp>
        <p:nvSpPr>
          <p:cNvPr id="16" name="Shape 12"/>
          <p:cNvSpPr/>
          <p:nvPr/>
        </p:nvSpPr>
        <p:spPr>
          <a:xfrm>
            <a:off x="4617720" y="3154680"/>
            <a:ext cx="640080" cy="640080"/>
          </a:xfrm>
          <a:prstGeom prst="ellipse">
            <a:avLst/>
          </a:prstGeom>
          <a:solidFill>
            <a:srgbClr val="028090"/>
          </a:solidFill>
          <a:ln/>
        </p:spPr>
      </p:sp>
      <p:pic>
        <p:nvPicPr>
          <p:cNvPr id="17" name="Image 2" descr="icons/code.png"/>
          <p:cNvPicPr>
            <a:picLocks noChangeAspect="1"/>
          </p:cNvPicPr>
          <p:nvPr/>
        </p:nvPicPr>
        <p:blipFill>
          <a:blip r:embed="rId5"/>
          <a:stretch>
            <a:fillRect/>
          </a:stretch>
        </p:blipFill>
        <p:spPr>
          <a:xfrm>
            <a:off x="4688129" y="3225089"/>
            <a:ext cx="499262" cy="499262"/>
          </a:xfrm>
          <a:prstGeom prst="rect">
            <a:avLst/>
          </a:prstGeom>
        </p:spPr>
      </p:pic>
      <p:sp>
        <p:nvSpPr>
          <p:cNvPr id="18" name="Text 13"/>
          <p:cNvSpPr txBox="1"/>
          <p:nvPr/>
        </p:nvSpPr>
        <p:spPr>
          <a:xfrm>
            <a:off x="4617720" y="3931920"/>
            <a:ext cx="2990088" cy="320040"/>
          </a:xfrm>
          <a:prstGeom prst="rect">
            <a:avLst/>
          </a:prstGeom>
          <a:noFill/>
          <a:ln/>
        </p:spPr>
        <p:txBody>
          <a:bodyPr wrap="square" lIns="0" tIns="0" rIns="0" bIns="0"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Pair 2</a:t>
            </a:r>
            <a:endParaRPr lang="en-US" sz="1400" dirty="0"/>
          </a:p>
        </p:txBody>
      </p:sp>
      <p:sp>
        <p:nvSpPr>
          <p:cNvPr id="19" name="Text 14"/>
          <p:cNvSpPr txBox="1"/>
          <p:nvPr/>
        </p:nvSpPr>
        <p:spPr>
          <a:xfrm>
            <a:off x="4617720" y="4251960"/>
            <a:ext cx="2990088" cy="548640"/>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Abhishek Chitriv  &amp;  Poorva</a:t>
            </a:r>
            <a:endParaRPr lang="en-US" sz="1400" dirty="0"/>
          </a:p>
        </p:txBody>
      </p:sp>
      <p:sp>
        <p:nvSpPr>
          <p:cNvPr id="20" name="Text 15"/>
          <p:cNvSpPr txBox="1"/>
          <p:nvPr/>
        </p:nvSpPr>
        <p:spPr>
          <a:xfrm>
            <a:off x="4617720" y="4846320"/>
            <a:ext cx="2990088" cy="731520"/>
          </a:xfrm>
          <a:prstGeom prst="rect">
            <a:avLst/>
          </a:prstGeom>
          <a:noFill/>
          <a:ln/>
        </p:spPr>
        <p:txBody>
          <a:bodyPr wrap="square" lIns="0" tIns="0" rIns="0" bIns="0" rtlCol="0" anchor="ctr"/>
          <a:lstStyle/>
          <a:p>
            <a:pPr marL="0" indent="0">
              <a:buNone/>
            </a:pPr>
            <a:r>
              <a:rPr lang="en-US" sz="1200" dirty="0">
                <a:solidFill>
                  <a:srgbClr val="5C7A85"/>
                </a:solidFill>
                <a:latin typeface="Calibri" pitchFamily="34" charset="0"/>
                <a:ea typeface="Calibri" pitchFamily="34" charset="-122"/>
                <a:cs typeface="Calibri" pitchFamily="34" charset="-120"/>
              </a:rPr>
              <a:t>ML Pipeline &amp; Model (.pkl) Files</a:t>
            </a:r>
            <a:endParaRPr lang="en-US" sz="1200" dirty="0"/>
          </a:p>
        </p:txBody>
      </p:sp>
      <p:sp>
        <p:nvSpPr>
          <p:cNvPr id="21" name="Shape 16"/>
          <p:cNvSpPr/>
          <p:nvPr/>
        </p:nvSpPr>
        <p:spPr>
          <a:xfrm>
            <a:off x="8138160" y="2880360"/>
            <a:ext cx="3538728" cy="2834640"/>
          </a:xfrm>
          <a:prstGeom prst="roundRect">
            <a:avLst>
              <a:gd name="adj" fmla="val 2581"/>
            </a:avLst>
          </a:prstGeom>
          <a:solidFill>
            <a:srgbClr val="FFFFFF"/>
          </a:solidFill>
          <a:ln w="12700">
            <a:solidFill>
              <a:srgbClr val="DCEEEC"/>
            </a:solidFill>
            <a:prstDash val="solid"/>
          </a:ln>
          <a:effectLst>
            <a:outerShdw blurRad="101600" dist="38100" dir="5400000" algn="bl" rotWithShape="0">
              <a:srgbClr val="1C7293">
                <a:alpha val="15000"/>
              </a:srgbClr>
            </a:outerShdw>
          </a:effectLst>
        </p:spPr>
      </p:sp>
      <p:sp>
        <p:nvSpPr>
          <p:cNvPr id="22" name="Shape 17"/>
          <p:cNvSpPr/>
          <p:nvPr/>
        </p:nvSpPr>
        <p:spPr>
          <a:xfrm>
            <a:off x="8412480" y="3154680"/>
            <a:ext cx="640080" cy="640080"/>
          </a:xfrm>
          <a:prstGeom prst="ellipse">
            <a:avLst/>
          </a:prstGeom>
          <a:solidFill>
            <a:srgbClr val="028090"/>
          </a:solidFill>
          <a:ln/>
        </p:spPr>
      </p:sp>
      <p:pic>
        <p:nvPicPr>
          <p:cNvPr id="23" name="Image 3" descr="icons/comments.png"/>
          <p:cNvPicPr>
            <a:picLocks noChangeAspect="1"/>
          </p:cNvPicPr>
          <p:nvPr/>
        </p:nvPicPr>
        <p:blipFill>
          <a:blip r:embed="rId6"/>
          <a:stretch>
            <a:fillRect/>
          </a:stretch>
        </p:blipFill>
        <p:spPr>
          <a:xfrm>
            <a:off x="8482889" y="3225089"/>
            <a:ext cx="499262" cy="499262"/>
          </a:xfrm>
          <a:prstGeom prst="rect">
            <a:avLst/>
          </a:prstGeom>
        </p:spPr>
      </p:pic>
      <p:sp>
        <p:nvSpPr>
          <p:cNvPr id="24" name="Text 18"/>
          <p:cNvSpPr txBox="1"/>
          <p:nvPr/>
        </p:nvSpPr>
        <p:spPr>
          <a:xfrm>
            <a:off x="8412480" y="3931920"/>
            <a:ext cx="2990088" cy="320040"/>
          </a:xfrm>
          <a:prstGeom prst="rect">
            <a:avLst/>
          </a:prstGeom>
          <a:noFill/>
          <a:ln/>
        </p:spPr>
        <p:txBody>
          <a:bodyPr wrap="square" lIns="0" tIns="0" rIns="0" bIns="0"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Pair 3</a:t>
            </a:r>
            <a:endParaRPr lang="en-US" sz="1400" dirty="0"/>
          </a:p>
        </p:txBody>
      </p:sp>
      <p:sp>
        <p:nvSpPr>
          <p:cNvPr id="25" name="Text 19"/>
          <p:cNvSpPr txBox="1"/>
          <p:nvPr/>
        </p:nvSpPr>
        <p:spPr>
          <a:xfrm>
            <a:off x="8412480" y="4251960"/>
            <a:ext cx="2990088" cy="548640"/>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Pratiksha Das  &amp;  Maksud Mirza</a:t>
            </a:r>
            <a:endParaRPr lang="en-US" sz="1400" dirty="0"/>
          </a:p>
        </p:txBody>
      </p:sp>
      <p:sp>
        <p:nvSpPr>
          <p:cNvPr id="26" name="Text 20"/>
          <p:cNvSpPr txBox="1"/>
          <p:nvPr/>
        </p:nvSpPr>
        <p:spPr>
          <a:xfrm>
            <a:off x="8412480" y="4846320"/>
            <a:ext cx="2990088" cy="731520"/>
          </a:xfrm>
          <a:prstGeom prst="rect">
            <a:avLst/>
          </a:prstGeom>
          <a:noFill/>
          <a:ln/>
        </p:spPr>
        <p:txBody>
          <a:bodyPr wrap="square" lIns="0" tIns="0" rIns="0" bIns="0" rtlCol="0" anchor="ctr"/>
          <a:lstStyle/>
          <a:p>
            <a:pPr marL="0" indent="0">
              <a:buNone/>
            </a:pPr>
            <a:r>
              <a:rPr lang="en-US" sz="1200" dirty="0">
                <a:solidFill>
                  <a:srgbClr val="5C7A85"/>
                </a:solidFill>
                <a:latin typeface="Calibri" pitchFamily="34" charset="0"/>
                <a:ea typeface="Calibri" pitchFamily="34" charset="-122"/>
                <a:cs typeface="Calibri" pitchFamily="34" charset="-120"/>
              </a:rPr>
              <a:t>Chatbot Interface &amp; Integration</a:t>
            </a:r>
            <a:endParaRPr lang="en-US" sz="1200" dirty="0"/>
          </a:p>
        </p:txBody>
      </p:sp>
      <p:sp>
        <p:nvSpPr>
          <p:cNvPr id="27" name="Text 21"/>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C7A85"/>
                </a:solidFill>
                <a:latin typeface="Calibri" pitchFamily="34" charset="0"/>
                <a:ea typeface="Calibri" pitchFamily="34" charset="-122"/>
                <a:cs typeface="Calibri" pitchFamily="34" charset="-120"/>
              </a:rPr>
              <a:t>02</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22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22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22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22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22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22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wipe(left)">
                                      <p:cBhvr>
                                        <p:cTn id="107" dur="22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22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220"/>
                                        <p:tgtEl>
                                          <p:spTgt spid="24"/>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22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220"/>
                                        <p:tgtEl>
                                          <p:spTgt spid="26"/>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wipe(left)">
                                      <p:cBhvr>
                                        <p:cTn id="132" dur="2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p:bldP spid="12" grpId="0" animBg="1"/>
      <p:bldP spid="13" grpId="0" animBg="1"/>
      <p:bldP spid="14" grpId="0" animBg="1"/>
      <p:bldP spid="15" grpId="0" animBg="1"/>
      <p:bldP spid="16" grpId="0" animBg="1"/>
      <p:bldP spid="17" grpId="0"/>
      <p:bldP spid="18" grpId="0" animBg="1"/>
      <p:bldP spid="19" grpId="0" animBg="1"/>
      <p:bldP spid="20" grpId="0" animBg="1"/>
      <p:bldP spid="21" grpId="0" animBg="1"/>
      <p:bldP spid="22" grpId="0" animBg="1"/>
      <p:bldP spid="23" grpId="0"/>
      <p:bldP spid="24" grpId="0" animBg="1"/>
      <p:bldP spid="25"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PAIR 1 — SHAGIL SHAIK &amp; WASEEM KHAN</a:t>
            </a:r>
            <a:endParaRPr lang="en-US" sz="1300" dirty="0"/>
          </a:p>
        </p:txBody>
      </p:sp>
      <p:sp>
        <p:nvSpPr>
          <p:cNvPr id="3" name="Text 1"/>
          <p:cNvSpPr txBox="1"/>
          <p:nvPr/>
        </p:nvSpPr>
        <p:spPr>
          <a:xfrm>
            <a:off x="548640" y="685800"/>
            <a:ext cx="9601200" cy="548640"/>
          </a:xfrm>
          <a:prstGeom prst="rect">
            <a:avLst/>
          </a:prstGeom>
          <a:noFill/>
          <a:ln/>
        </p:spPr>
        <p:txBody>
          <a:bodyPr wrap="square" lIns="0" tIns="0" rIns="0" bIns="0" rtlCol="0" anchor="ctr"/>
          <a:lstStyle/>
          <a:p>
            <a:pPr marL="0" indent="0">
              <a:buNone/>
            </a:pPr>
            <a:r>
              <a:rPr lang="en-US" sz="2800" b="1" dirty="0">
                <a:solidFill>
                  <a:srgbClr val="13293D"/>
                </a:solidFill>
                <a:latin typeface="Cambria" pitchFamily="34" charset="0"/>
                <a:ea typeface="Cambria" pitchFamily="34" charset="-122"/>
                <a:cs typeface="Cambria" pitchFamily="34" charset="-120"/>
              </a:rPr>
              <a:t>Dataset Preparation &amp; Cleaning</a:t>
            </a:r>
            <a:endParaRPr lang="en-US" sz="2800" dirty="0"/>
          </a:p>
        </p:txBody>
      </p:sp>
      <p:sp>
        <p:nvSpPr>
          <p:cNvPr id="4" name="Shape 2"/>
          <p:cNvSpPr/>
          <p:nvPr/>
        </p:nvSpPr>
        <p:spPr>
          <a:xfrm>
            <a:off x="548640" y="1508760"/>
            <a:ext cx="6675120" cy="4480560"/>
          </a:xfrm>
          <a:prstGeom prst="roundRect">
            <a:avLst>
              <a:gd name="adj" fmla="val 1633"/>
            </a:avLst>
          </a:prstGeom>
          <a:solidFill>
            <a:srgbClr val="FFFFFF"/>
          </a:solidFill>
          <a:ln w="12700">
            <a:solidFill>
              <a:srgbClr val="DCEEEC"/>
            </a:solidFill>
            <a:prstDash val="solid"/>
          </a:ln>
        </p:spPr>
      </p:sp>
      <p:sp>
        <p:nvSpPr>
          <p:cNvPr id="5" name="Shape 3"/>
          <p:cNvSpPr/>
          <p:nvPr/>
        </p:nvSpPr>
        <p:spPr>
          <a:xfrm>
            <a:off x="914400" y="1828800"/>
            <a:ext cx="594360" cy="594360"/>
          </a:xfrm>
          <a:prstGeom prst="ellipse">
            <a:avLst/>
          </a:prstGeom>
          <a:solidFill>
            <a:srgbClr val="028090"/>
          </a:solidFill>
          <a:ln/>
        </p:spPr>
      </p:sp>
      <p:pic>
        <p:nvPicPr>
          <p:cNvPr id="6" name="Image 0" descr="icons/database.png"/>
          <p:cNvPicPr>
            <a:picLocks noChangeAspect="1"/>
          </p:cNvPicPr>
          <p:nvPr/>
        </p:nvPicPr>
        <p:blipFill>
          <a:blip r:embed="rId3"/>
          <a:stretch>
            <a:fillRect/>
          </a:stretch>
        </p:blipFill>
        <p:spPr>
          <a:xfrm>
            <a:off x="979780" y="1894180"/>
            <a:ext cx="463601" cy="463601"/>
          </a:xfrm>
          <a:prstGeom prst="rect">
            <a:avLst/>
          </a:prstGeom>
        </p:spPr>
      </p:pic>
      <p:sp>
        <p:nvSpPr>
          <p:cNvPr id="7" name="Text 4"/>
          <p:cNvSpPr txBox="1"/>
          <p:nvPr/>
        </p:nvSpPr>
        <p:spPr>
          <a:xfrm>
            <a:off x="1691640" y="1828800"/>
            <a:ext cx="5349240" cy="822960"/>
          </a:xfrm>
          <a:prstGeom prst="rect">
            <a:avLst/>
          </a:prstGeom>
          <a:noFill/>
          <a:ln/>
        </p:spPr>
        <p:txBody>
          <a:bodyPr wrap="square" lIns="0" tIns="0" rIns="0" bIns="0" rtlCol="0" anchor="t"/>
          <a:lstStyle/>
          <a:p>
            <a:pPr marL="0" indent="0">
              <a:buNone/>
            </a:pPr>
            <a:r>
              <a:rPr lang="en-US" sz="1400" b="1" dirty="0">
                <a:solidFill>
                  <a:srgbClr val="13293D"/>
                </a:solidFill>
                <a:latin typeface="Calibri" pitchFamily="34" charset="0"/>
                <a:ea typeface="Calibri" pitchFamily="34" charset="-122"/>
                <a:cs typeface="Calibri" pitchFamily="34" charset="-120"/>
              </a:rPr>
              <a:t>From messy multi-college data to a verified single-source dataset</a:t>
            </a:r>
            <a:endParaRPr lang="en-US" sz="1400" dirty="0"/>
          </a:p>
        </p:txBody>
      </p:sp>
      <p:sp>
        <p:nvSpPr>
          <p:cNvPr id="8" name="Text 5"/>
          <p:cNvSpPr txBox="1"/>
          <p:nvPr/>
        </p:nvSpPr>
        <p:spPr>
          <a:xfrm>
            <a:off x="914400" y="2743200"/>
            <a:ext cx="6035040" cy="3108960"/>
          </a:xfrm>
          <a:prstGeom prst="rect">
            <a:avLst/>
          </a:prstGeom>
          <a:noFill/>
          <a:ln/>
        </p:spPr>
        <p:txBody>
          <a:bodyPr wrap="square" lIns="0" tIns="0" rIns="0" bIns="0" rtlCol="0" anchor="t"/>
          <a:lstStyle/>
          <a:p>
            <a:pPr marL="342900" indent="-342900">
              <a:spcAft>
                <a:spcPts val="1400"/>
              </a:spcAft>
              <a:buSzPct val="100000"/>
              <a:buChar char="▪"/>
            </a:pPr>
            <a:r>
              <a:rPr lang="en-US" sz="1300" dirty="0">
                <a:solidFill>
                  <a:srgbClr val="13293D"/>
                </a:solidFill>
                <a:latin typeface="Calibri" pitchFamily="34" charset="0"/>
                <a:ea typeface="Calibri" pitchFamily="34" charset="-122"/>
                <a:cs typeface="Calibri" pitchFamily="34" charset="-120"/>
              </a:rPr>
              <a:t>Collected Q&amp;A pairs across 8 categories: admission, courses, fees, eligibility, scholarship, hostel, placement, examination.</a:t>
            </a:r>
            <a:endParaRPr lang="en-US" sz="1300" dirty="0"/>
          </a:p>
          <a:p>
            <a:pPr marL="342900" indent="-342900">
              <a:spcAft>
                <a:spcPts val="1400"/>
              </a:spcAft>
              <a:buSzPct val="100000"/>
              <a:buChar char="▪"/>
            </a:pPr>
            <a:r>
              <a:rPr lang="en-US" sz="1300" dirty="0">
                <a:solidFill>
                  <a:srgbClr val="13293D"/>
                </a:solidFill>
                <a:latin typeface="Calibri" pitchFamily="34" charset="0"/>
                <a:ea typeface="Calibri" pitchFamily="34" charset="-122"/>
                <a:cs typeface="Calibri" pitchFamily="34" charset="-120"/>
              </a:rPr>
              <a:t>Cleaned and de-duplicated entries; verified every answer against an official source before including it.</a:t>
            </a:r>
            <a:endParaRPr lang="en-US" sz="1300" dirty="0"/>
          </a:p>
          <a:p>
            <a:pPr marL="342900" indent="-342900">
              <a:spcAft>
                <a:spcPts val="1400"/>
              </a:spcAft>
              <a:buSzPct val="100000"/>
              <a:buChar char="▪"/>
            </a:pPr>
            <a:r>
              <a:rPr lang="en-US" sz="1300" dirty="0">
                <a:solidFill>
                  <a:srgbClr val="13293D"/>
                </a:solidFill>
                <a:latin typeface="Calibri" pitchFamily="34" charset="0"/>
                <a:ea typeface="Calibri" pitchFamily="34" charset="-122"/>
                <a:cs typeface="Calibri" pitchFamily="34" charset="-120"/>
              </a:rPr>
              <a:t>Final dataset: 245 rows, 8 balanced intents, zero missing values, each row tagged with a Source ID and verification status.</a:t>
            </a:r>
            <a:endParaRPr lang="en-US" sz="1300" dirty="0"/>
          </a:p>
        </p:txBody>
      </p:sp>
      <p:sp>
        <p:nvSpPr>
          <p:cNvPr id="9" name="Shape 6"/>
          <p:cNvSpPr/>
          <p:nvPr/>
        </p:nvSpPr>
        <p:spPr>
          <a:xfrm>
            <a:off x="7452360" y="1508760"/>
            <a:ext cx="4160520" cy="4480560"/>
          </a:xfrm>
          <a:prstGeom prst="roundRect">
            <a:avLst>
              <a:gd name="adj" fmla="val 1758"/>
            </a:avLst>
          </a:prstGeom>
          <a:solidFill>
            <a:srgbClr val="0B2545"/>
          </a:solidFill>
          <a:ln/>
        </p:spPr>
      </p:sp>
      <p:sp>
        <p:nvSpPr>
          <p:cNvPr id="10" name="Text 7"/>
          <p:cNvSpPr txBox="1"/>
          <p:nvPr/>
        </p:nvSpPr>
        <p:spPr>
          <a:xfrm>
            <a:off x="7726680" y="1737360"/>
            <a:ext cx="3657600" cy="365760"/>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Dataset at a Glance</a:t>
            </a:r>
            <a:endParaRPr lang="en-US" sz="1300" dirty="0"/>
          </a:p>
        </p:txBody>
      </p:sp>
      <p:sp>
        <p:nvSpPr>
          <p:cNvPr id="11" name="Text 8"/>
          <p:cNvSpPr txBox="1"/>
          <p:nvPr/>
        </p:nvSpPr>
        <p:spPr>
          <a:xfrm>
            <a:off x="7726680" y="2194560"/>
            <a:ext cx="137160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Examination</a:t>
            </a:r>
            <a:endParaRPr lang="en-US" sz="1100" dirty="0"/>
          </a:p>
        </p:txBody>
      </p:sp>
      <p:sp>
        <p:nvSpPr>
          <p:cNvPr id="12" name="Shape 9"/>
          <p:cNvSpPr/>
          <p:nvPr/>
        </p:nvSpPr>
        <p:spPr>
          <a:xfrm>
            <a:off x="9098280" y="2249424"/>
            <a:ext cx="1783080" cy="182880"/>
          </a:xfrm>
          <a:prstGeom prst="roundRect">
            <a:avLst>
              <a:gd name="adj" fmla="val 15000"/>
            </a:avLst>
          </a:prstGeom>
          <a:solidFill>
            <a:srgbClr val="00A896"/>
          </a:solidFill>
          <a:ln/>
        </p:spPr>
      </p:sp>
      <p:sp>
        <p:nvSpPr>
          <p:cNvPr id="13" name="Text 10"/>
          <p:cNvSpPr txBox="1"/>
          <p:nvPr/>
        </p:nvSpPr>
        <p:spPr>
          <a:xfrm>
            <a:off x="10954512" y="2194560"/>
            <a:ext cx="45720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35</a:t>
            </a:r>
            <a:endParaRPr lang="en-US" sz="1100" dirty="0"/>
          </a:p>
        </p:txBody>
      </p:sp>
      <p:sp>
        <p:nvSpPr>
          <p:cNvPr id="14" name="Text 11"/>
          <p:cNvSpPr txBox="1"/>
          <p:nvPr/>
        </p:nvSpPr>
        <p:spPr>
          <a:xfrm>
            <a:off x="7726680" y="2514600"/>
            <a:ext cx="137160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Courses</a:t>
            </a:r>
            <a:endParaRPr lang="en-US" sz="1100" dirty="0"/>
          </a:p>
        </p:txBody>
      </p:sp>
      <p:sp>
        <p:nvSpPr>
          <p:cNvPr id="15" name="Shape 12"/>
          <p:cNvSpPr/>
          <p:nvPr/>
        </p:nvSpPr>
        <p:spPr>
          <a:xfrm>
            <a:off x="9098280" y="2569464"/>
            <a:ext cx="1732135" cy="182880"/>
          </a:xfrm>
          <a:prstGeom prst="roundRect">
            <a:avLst>
              <a:gd name="adj" fmla="val 15000"/>
            </a:avLst>
          </a:prstGeom>
          <a:solidFill>
            <a:srgbClr val="00A896"/>
          </a:solidFill>
          <a:ln/>
        </p:spPr>
      </p:sp>
      <p:sp>
        <p:nvSpPr>
          <p:cNvPr id="16" name="Text 13"/>
          <p:cNvSpPr txBox="1"/>
          <p:nvPr/>
        </p:nvSpPr>
        <p:spPr>
          <a:xfrm>
            <a:off x="10954512" y="2514600"/>
            <a:ext cx="45720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34</a:t>
            </a:r>
            <a:endParaRPr lang="en-US" sz="1100" dirty="0"/>
          </a:p>
        </p:txBody>
      </p:sp>
      <p:sp>
        <p:nvSpPr>
          <p:cNvPr id="17" name="Text 14"/>
          <p:cNvSpPr txBox="1"/>
          <p:nvPr/>
        </p:nvSpPr>
        <p:spPr>
          <a:xfrm>
            <a:off x="7726680" y="2834640"/>
            <a:ext cx="137160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Fees</a:t>
            </a:r>
            <a:endParaRPr lang="en-US" sz="1100" dirty="0"/>
          </a:p>
        </p:txBody>
      </p:sp>
      <p:sp>
        <p:nvSpPr>
          <p:cNvPr id="18" name="Shape 15"/>
          <p:cNvSpPr/>
          <p:nvPr/>
        </p:nvSpPr>
        <p:spPr>
          <a:xfrm>
            <a:off x="9098280" y="2889504"/>
            <a:ext cx="1579299" cy="182880"/>
          </a:xfrm>
          <a:prstGeom prst="roundRect">
            <a:avLst>
              <a:gd name="adj" fmla="val 15000"/>
            </a:avLst>
          </a:prstGeom>
          <a:solidFill>
            <a:srgbClr val="00A896"/>
          </a:solidFill>
          <a:ln/>
        </p:spPr>
      </p:sp>
      <p:sp>
        <p:nvSpPr>
          <p:cNvPr id="19" name="Text 16"/>
          <p:cNvSpPr txBox="1"/>
          <p:nvPr/>
        </p:nvSpPr>
        <p:spPr>
          <a:xfrm>
            <a:off x="10954512" y="2834640"/>
            <a:ext cx="45720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31</a:t>
            </a:r>
            <a:endParaRPr lang="en-US" sz="1100" dirty="0"/>
          </a:p>
        </p:txBody>
      </p:sp>
      <p:sp>
        <p:nvSpPr>
          <p:cNvPr id="20" name="Text 17"/>
          <p:cNvSpPr txBox="1"/>
          <p:nvPr/>
        </p:nvSpPr>
        <p:spPr>
          <a:xfrm>
            <a:off x="7726680" y="3154680"/>
            <a:ext cx="137160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Scholarship</a:t>
            </a:r>
            <a:endParaRPr lang="en-US" sz="1100" dirty="0"/>
          </a:p>
        </p:txBody>
      </p:sp>
      <p:sp>
        <p:nvSpPr>
          <p:cNvPr id="21" name="Shape 18"/>
          <p:cNvSpPr/>
          <p:nvPr/>
        </p:nvSpPr>
        <p:spPr>
          <a:xfrm>
            <a:off x="9098280" y="3209544"/>
            <a:ext cx="1528354" cy="182880"/>
          </a:xfrm>
          <a:prstGeom prst="roundRect">
            <a:avLst>
              <a:gd name="adj" fmla="val 15000"/>
            </a:avLst>
          </a:prstGeom>
          <a:solidFill>
            <a:srgbClr val="00A896"/>
          </a:solidFill>
          <a:ln/>
        </p:spPr>
      </p:sp>
      <p:sp>
        <p:nvSpPr>
          <p:cNvPr id="22" name="Text 19"/>
          <p:cNvSpPr txBox="1"/>
          <p:nvPr/>
        </p:nvSpPr>
        <p:spPr>
          <a:xfrm>
            <a:off x="10954512" y="3154680"/>
            <a:ext cx="45720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30</a:t>
            </a:r>
            <a:endParaRPr lang="en-US" sz="1100" dirty="0"/>
          </a:p>
        </p:txBody>
      </p:sp>
      <p:sp>
        <p:nvSpPr>
          <p:cNvPr id="23" name="Text 20"/>
          <p:cNvSpPr txBox="1"/>
          <p:nvPr/>
        </p:nvSpPr>
        <p:spPr>
          <a:xfrm>
            <a:off x="7726680" y="3474720"/>
            <a:ext cx="137160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Placement</a:t>
            </a:r>
            <a:endParaRPr lang="en-US" sz="1100" dirty="0"/>
          </a:p>
        </p:txBody>
      </p:sp>
      <p:sp>
        <p:nvSpPr>
          <p:cNvPr id="24" name="Shape 21"/>
          <p:cNvSpPr/>
          <p:nvPr/>
        </p:nvSpPr>
        <p:spPr>
          <a:xfrm>
            <a:off x="9098280" y="3529584"/>
            <a:ext cx="1528354" cy="182880"/>
          </a:xfrm>
          <a:prstGeom prst="roundRect">
            <a:avLst>
              <a:gd name="adj" fmla="val 15000"/>
            </a:avLst>
          </a:prstGeom>
          <a:solidFill>
            <a:srgbClr val="00A896"/>
          </a:solidFill>
          <a:ln/>
        </p:spPr>
      </p:sp>
      <p:sp>
        <p:nvSpPr>
          <p:cNvPr id="25" name="Text 22"/>
          <p:cNvSpPr txBox="1"/>
          <p:nvPr/>
        </p:nvSpPr>
        <p:spPr>
          <a:xfrm>
            <a:off x="10954512" y="3474720"/>
            <a:ext cx="45720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30</a:t>
            </a:r>
            <a:endParaRPr lang="en-US" sz="1100" dirty="0"/>
          </a:p>
        </p:txBody>
      </p:sp>
      <p:sp>
        <p:nvSpPr>
          <p:cNvPr id="26" name="Text 23"/>
          <p:cNvSpPr txBox="1"/>
          <p:nvPr/>
        </p:nvSpPr>
        <p:spPr>
          <a:xfrm>
            <a:off x="7726680" y="3794760"/>
            <a:ext cx="137160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Admission</a:t>
            </a:r>
            <a:endParaRPr lang="en-US" sz="1100" dirty="0"/>
          </a:p>
        </p:txBody>
      </p:sp>
      <p:sp>
        <p:nvSpPr>
          <p:cNvPr id="27" name="Shape 24"/>
          <p:cNvSpPr/>
          <p:nvPr/>
        </p:nvSpPr>
        <p:spPr>
          <a:xfrm>
            <a:off x="9098280" y="3849624"/>
            <a:ext cx="1477409" cy="182880"/>
          </a:xfrm>
          <a:prstGeom prst="roundRect">
            <a:avLst>
              <a:gd name="adj" fmla="val 15000"/>
            </a:avLst>
          </a:prstGeom>
          <a:solidFill>
            <a:srgbClr val="00A896"/>
          </a:solidFill>
          <a:ln/>
        </p:spPr>
      </p:sp>
      <p:sp>
        <p:nvSpPr>
          <p:cNvPr id="28" name="Text 25"/>
          <p:cNvSpPr txBox="1"/>
          <p:nvPr/>
        </p:nvSpPr>
        <p:spPr>
          <a:xfrm>
            <a:off x="10954512" y="3794760"/>
            <a:ext cx="45720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29</a:t>
            </a:r>
            <a:endParaRPr lang="en-US" sz="1100" dirty="0"/>
          </a:p>
        </p:txBody>
      </p:sp>
      <p:sp>
        <p:nvSpPr>
          <p:cNvPr id="29" name="Text 26"/>
          <p:cNvSpPr txBox="1"/>
          <p:nvPr/>
        </p:nvSpPr>
        <p:spPr>
          <a:xfrm>
            <a:off x="7726680" y="4114800"/>
            <a:ext cx="137160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Eligibility</a:t>
            </a:r>
            <a:endParaRPr lang="en-US" sz="1100" dirty="0"/>
          </a:p>
        </p:txBody>
      </p:sp>
      <p:sp>
        <p:nvSpPr>
          <p:cNvPr id="30" name="Shape 27"/>
          <p:cNvSpPr/>
          <p:nvPr/>
        </p:nvSpPr>
        <p:spPr>
          <a:xfrm>
            <a:off x="9098280" y="4169664"/>
            <a:ext cx="1426464" cy="182880"/>
          </a:xfrm>
          <a:prstGeom prst="roundRect">
            <a:avLst>
              <a:gd name="adj" fmla="val 15000"/>
            </a:avLst>
          </a:prstGeom>
          <a:solidFill>
            <a:srgbClr val="00A896"/>
          </a:solidFill>
          <a:ln/>
        </p:spPr>
      </p:sp>
      <p:sp>
        <p:nvSpPr>
          <p:cNvPr id="31" name="Text 28"/>
          <p:cNvSpPr txBox="1"/>
          <p:nvPr/>
        </p:nvSpPr>
        <p:spPr>
          <a:xfrm>
            <a:off x="10954512" y="4114800"/>
            <a:ext cx="45720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28</a:t>
            </a:r>
            <a:endParaRPr lang="en-US" sz="1100" dirty="0"/>
          </a:p>
        </p:txBody>
      </p:sp>
      <p:sp>
        <p:nvSpPr>
          <p:cNvPr id="32" name="Text 29"/>
          <p:cNvSpPr txBox="1"/>
          <p:nvPr/>
        </p:nvSpPr>
        <p:spPr>
          <a:xfrm>
            <a:off x="7726680" y="4434840"/>
            <a:ext cx="137160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Hostel</a:t>
            </a:r>
            <a:endParaRPr lang="en-US" sz="1100" dirty="0"/>
          </a:p>
        </p:txBody>
      </p:sp>
      <p:sp>
        <p:nvSpPr>
          <p:cNvPr id="33" name="Shape 30"/>
          <p:cNvSpPr/>
          <p:nvPr/>
        </p:nvSpPr>
        <p:spPr>
          <a:xfrm>
            <a:off x="9098280" y="4489704"/>
            <a:ext cx="1426464" cy="182880"/>
          </a:xfrm>
          <a:prstGeom prst="roundRect">
            <a:avLst>
              <a:gd name="adj" fmla="val 15000"/>
            </a:avLst>
          </a:prstGeom>
          <a:solidFill>
            <a:srgbClr val="00A896"/>
          </a:solidFill>
          <a:ln/>
        </p:spPr>
      </p:sp>
      <p:sp>
        <p:nvSpPr>
          <p:cNvPr id="34" name="Text 31"/>
          <p:cNvSpPr txBox="1"/>
          <p:nvPr/>
        </p:nvSpPr>
        <p:spPr>
          <a:xfrm>
            <a:off x="10954512" y="4434840"/>
            <a:ext cx="45720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28</a:t>
            </a:r>
            <a:endParaRPr lang="en-US" sz="1100" dirty="0"/>
          </a:p>
        </p:txBody>
      </p:sp>
      <p:sp>
        <p:nvSpPr>
          <p:cNvPr id="35" name="Text 3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C7A85"/>
                </a:solidFill>
                <a:latin typeface="Calibri" pitchFamily="34" charset="0"/>
                <a:ea typeface="Calibri" pitchFamily="34" charset="-122"/>
                <a:cs typeface="Calibri" pitchFamily="34" charset="-120"/>
              </a:rPr>
              <a:t>06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22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22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22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22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22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22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wipe(left)">
                                      <p:cBhvr>
                                        <p:cTn id="107" dur="22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22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220"/>
                                        <p:tgtEl>
                                          <p:spTgt spid="24"/>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22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220"/>
                                        <p:tgtEl>
                                          <p:spTgt spid="26"/>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wipe(left)">
                                      <p:cBhvr>
                                        <p:cTn id="132" dur="220"/>
                                        <p:tgtEl>
                                          <p:spTgt spid="27"/>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220"/>
                                        <p:tgtEl>
                                          <p:spTgt spid="28"/>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220"/>
                                        <p:tgtEl>
                                          <p:spTgt spid="29"/>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220"/>
                                        <p:tgtEl>
                                          <p:spTgt spid="30"/>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220"/>
                                        <p:tgtEl>
                                          <p:spTgt spid="31"/>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32"/>
                                        </p:tgtEl>
                                        <p:attrNameLst>
                                          <p:attrName>style.visibility</p:attrName>
                                        </p:attrNameLst>
                                      </p:cBhvr>
                                      <p:to>
                                        <p:strVal val="visible"/>
                                      </p:to>
                                    </p:set>
                                    <p:animEffect transition="in" filter="wipe(left)">
                                      <p:cBhvr>
                                        <p:cTn id="157" dur="220"/>
                                        <p:tgtEl>
                                          <p:spTgt spid="32"/>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grpId="0" nodeType="clickEffect">
                                  <p:stCondLst>
                                    <p:cond delay="0"/>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220"/>
                                        <p:tgtEl>
                                          <p:spTgt spid="33"/>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34"/>
                                        </p:tgtEl>
                                        <p:attrNameLst>
                                          <p:attrName>style.visibility</p:attrName>
                                        </p:attrNameLst>
                                      </p:cBhvr>
                                      <p:to>
                                        <p:strVal val="visible"/>
                                      </p:to>
                                    </p:set>
                                    <p:animEffect transition="in" filter="fade">
                                      <p:cBhvr>
                                        <p:cTn id="167" dur="220"/>
                                        <p:tgtEl>
                                          <p:spTgt spid="34"/>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2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PAIR 2 — ABHISHEK CHITRIV &amp; POORVA</a:t>
            </a:r>
            <a:endParaRPr lang="en-US" sz="1300" dirty="0"/>
          </a:p>
        </p:txBody>
      </p:sp>
      <p:sp>
        <p:nvSpPr>
          <p:cNvPr id="3" name="Text 1"/>
          <p:cNvSpPr txBox="1"/>
          <p:nvPr/>
        </p:nvSpPr>
        <p:spPr>
          <a:xfrm>
            <a:off x="548640" y="685800"/>
            <a:ext cx="9601200" cy="548640"/>
          </a:xfrm>
          <a:prstGeom prst="rect">
            <a:avLst/>
          </a:prstGeom>
          <a:noFill/>
          <a:ln/>
        </p:spPr>
        <p:txBody>
          <a:bodyPr wrap="square" lIns="0" tIns="0" rIns="0" bIns="0" rtlCol="0" anchor="ctr"/>
          <a:lstStyle/>
          <a:p>
            <a:pPr marL="0" indent="0">
              <a:buNone/>
            </a:pPr>
            <a:r>
              <a:rPr lang="en-US" sz="2800" b="1" dirty="0">
                <a:solidFill>
                  <a:srgbClr val="13293D"/>
                </a:solidFill>
                <a:latin typeface="Cambria" pitchFamily="34" charset="0"/>
                <a:ea typeface="Cambria" pitchFamily="34" charset="-122"/>
                <a:cs typeface="Cambria" pitchFamily="34" charset="-120"/>
              </a:rPr>
              <a:t>ML Pipeline &amp; Model Files</a:t>
            </a:r>
            <a:endParaRPr lang="en-US" sz="2800" dirty="0"/>
          </a:p>
        </p:txBody>
      </p:sp>
      <p:sp>
        <p:nvSpPr>
          <p:cNvPr id="4" name="Shape 2"/>
          <p:cNvSpPr/>
          <p:nvPr/>
        </p:nvSpPr>
        <p:spPr>
          <a:xfrm>
            <a:off x="548640" y="1600200"/>
            <a:ext cx="2606040" cy="2286000"/>
          </a:xfrm>
          <a:prstGeom prst="roundRect">
            <a:avLst>
              <a:gd name="adj" fmla="val 3200"/>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5" name="Shape 3"/>
          <p:cNvSpPr/>
          <p:nvPr/>
        </p:nvSpPr>
        <p:spPr>
          <a:xfrm>
            <a:off x="1549908" y="1828800"/>
            <a:ext cx="603504" cy="603504"/>
          </a:xfrm>
          <a:prstGeom prst="ellipse">
            <a:avLst/>
          </a:prstGeom>
          <a:solidFill>
            <a:srgbClr val="028090"/>
          </a:solidFill>
          <a:ln/>
        </p:spPr>
      </p:sp>
      <p:pic>
        <p:nvPicPr>
          <p:cNvPr id="6" name="Image 0" descr="icons/filter.png"/>
          <p:cNvPicPr>
            <a:picLocks noChangeAspect="1"/>
          </p:cNvPicPr>
          <p:nvPr/>
        </p:nvPicPr>
        <p:blipFill>
          <a:blip r:embed="rId3"/>
          <a:stretch>
            <a:fillRect/>
          </a:stretch>
        </p:blipFill>
        <p:spPr>
          <a:xfrm>
            <a:off x="1616293" y="1895185"/>
            <a:ext cx="470733" cy="470733"/>
          </a:xfrm>
          <a:prstGeom prst="rect">
            <a:avLst/>
          </a:prstGeom>
        </p:spPr>
      </p:pic>
      <p:sp>
        <p:nvSpPr>
          <p:cNvPr id="7" name="Text 4"/>
          <p:cNvSpPr txBox="1"/>
          <p:nvPr/>
        </p:nvSpPr>
        <p:spPr>
          <a:xfrm>
            <a:off x="713232" y="2560320"/>
            <a:ext cx="2276856" cy="365760"/>
          </a:xfrm>
          <a:prstGeom prst="rect">
            <a:avLst/>
          </a:prstGeom>
          <a:noFill/>
          <a:ln/>
        </p:spPr>
        <p:txBody>
          <a:bodyPr wrap="square" lIns="0" tIns="0" rIns="0" bIns="0" rtlCol="0" anchor="ctr"/>
          <a:lstStyle/>
          <a:p>
            <a:pPr marL="0" indent="0" algn="ctr">
              <a:buNone/>
            </a:pPr>
            <a:r>
              <a:rPr lang="en-US" sz="1300" b="1" dirty="0">
                <a:solidFill>
                  <a:srgbClr val="13293D"/>
                </a:solidFill>
                <a:latin typeface="Calibri" pitchFamily="34" charset="0"/>
                <a:ea typeface="Calibri" pitchFamily="34" charset="-122"/>
                <a:cs typeface="Calibri" pitchFamily="34" charset="-120"/>
              </a:rPr>
              <a:t>1. Preprocess</a:t>
            </a:r>
            <a:endParaRPr lang="en-US" sz="1300" dirty="0"/>
          </a:p>
        </p:txBody>
      </p:sp>
      <p:sp>
        <p:nvSpPr>
          <p:cNvPr id="8" name="Text 5"/>
          <p:cNvSpPr txBox="1"/>
          <p:nvPr/>
        </p:nvSpPr>
        <p:spPr>
          <a:xfrm>
            <a:off x="713232" y="2926080"/>
            <a:ext cx="2276856" cy="914400"/>
          </a:xfrm>
          <a:prstGeom prst="rect">
            <a:avLst/>
          </a:prstGeom>
          <a:noFill/>
          <a:ln/>
        </p:spPr>
        <p:txBody>
          <a:bodyPr wrap="square" lIns="0" tIns="0" rIns="0" bIns="0" rtlCol="0" anchor="t"/>
          <a:lstStyle/>
          <a:p>
            <a:pPr marL="0" indent="0" algn="ctr">
              <a:buNone/>
            </a:pPr>
            <a:r>
              <a:rPr lang="en-US" sz="1100" dirty="0">
                <a:solidFill>
                  <a:srgbClr val="5C7A85"/>
                </a:solidFill>
                <a:latin typeface="Calibri" pitchFamily="34" charset="0"/>
                <a:ea typeface="Calibri" pitchFamily="34" charset="-122"/>
                <a:cs typeface="Calibri" pitchFamily="34" charset="-120"/>
              </a:rPr>
              <a:t>Lowercase, strip punctuation/numbers, tokenize, remove stopwords (keep no/not/never), lemmatize</a:t>
            </a:r>
            <a:endParaRPr lang="en-US" sz="1100" dirty="0"/>
          </a:p>
        </p:txBody>
      </p:sp>
      <p:sp>
        <p:nvSpPr>
          <p:cNvPr id="9" name="Text 6"/>
          <p:cNvSpPr txBox="1"/>
          <p:nvPr/>
        </p:nvSpPr>
        <p:spPr>
          <a:xfrm>
            <a:off x="3154680" y="2468880"/>
            <a:ext cx="201168" cy="457200"/>
          </a:xfrm>
          <a:prstGeom prst="rect">
            <a:avLst/>
          </a:prstGeom>
          <a:noFill/>
          <a:ln/>
        </p:spPr>
        <p:txBody>
          <a:bodyPr wrap="square" lIns="0" tIns="0" rIns="0" bIns="0" rtlCol="0" anchor="ctr"/>
          <a:lstStyle/>
          <a:p>
            <a:pPr marL="0" indent="0" algn="ctr">
              <a:buNone/>
            </a:pPr>
            <a:r>
              <a:rPr lang="en-US" sz="1600" b="1" dirty="0">
                <a:solidFill>
                  <a:srgbClr val="00A896"/>
                </a:solidFill>
                <a:latin typeface="Arial" pitchFamily="34" charset="0"/>
                <a:ea typeface="Arial" pitchFamily="34" charset="-122"/>
                <a:cs typeface="Arial" pitchFamily="34" charset="-120"/>
              </a:rPr>
              <a:t>→</a:t>
            </a:r>
            <a:endParaRPr lang="en-US" sz="1600" dirty="0"/>
          </a:p>
        </p:txBody>
      </p:sp>
      <p:sp>
        <p:nvSpPr>
          <p:cNvPr id="10" name="Shape 7"/>
          <p:cNvSpPr/>
          <p:nvPr/>
        </p:nvSpPr>
        <p:spPr>
          <a:xfrm>
            <a:off x="3355848" y="1600200"/>
            <a:ext cx="2606040" cy="2286000"/>
          </a:xfrm>
          <a:prstGeom prst="roundRect">
            <a:avLst>
              <a:gd name="adj" fmla="val 3200"/>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11" name="Shape 8"/>
          <p:cNvSpPr/>
          <p:nvPr/>
        </p:nvSpPr>
        <p:spPr>
          <a:xfrm>
            <a:off x="4357116" y="1828800"/>
            <a:ext cx="603504" cy="603504"/>
          </a:xfrm>
          <a:prstGeom prst="ellipse">
            <a:avLst/>
          </a:prstGeom>
          <a:solidFill>
            <a:srgbClr val="028090"/>
          </a:solidFill>
          <a:ln/>
        </p:spPr>
      </p:sp>
      <p:pic>
        <p:nvPicPr>
          <p:cNvPr id="12" name="Image 1" descr="icons/code.png"/>
          <p:cNvPicPr>
            <a:picLocks noChangeAspect="1"/>
          </p:cNvPicPr>
          <p:nvPr/>
        </p:nvPicPr>
        <p:blipFill>
          <a:blip r:embed="rId4"/>
          <a:stretch>
            <a:fillRect/>
          </a:stretch>
        </p:blipFill>
        <p:spPr>
          <a:xfrm>
            <a:off x="4423501" y="1895185"/>
            <a:ext cx="470733" cy="470733"/>
          </a:xfrm>
          <a:prstGeom prst="rect">
            <a:avLst/>
          </a:prstGeom>
        </p:spPr>
      </p:pic>
      <p:sp>
        <p:nvSpPr>
          <p:cNvPr id="13" name="Text 9"/>
          <p:cNvSpPr txBox="1"/>
          <p:nvPr/>
        </p:nvSpPr>
        <p:spPr>
          <a:xfrm>
            <a:off x="3520440" y="2560320"/>
            <a:ext cx="2276856" cy="365760"/>
          </a:xfrm>
          <a:prstGeom prst="rect">
            <a:avLst/>
          </a:prstGeom>
          <a:noFill/>
          <a:ln/>
        </p:spPr>
        <p:txBody>
          <a:bodyPr wrap="square" lIns="0" tIns="0" rIns="0" bIns="0" rtlCol="0" anchor="ctr"/>
          <a:lstStyle/>
          <a:p>
            <a:pPr marL="0" indent="0" algn="ctr">
              <a:buNone/>
            </a:pPr>
            <a:r>
              <a:rPr lang="en-US" sz="1300" b="1" dirty="0">
                <a:solidFill>
                  <a:srgbClr val="13293D"/>
                </a:solidFill>
                <a:latin typeface="Calibri" pitchFamily="34" charset="0"/>
                <a:ea typeface="Calibri" pitchFamily="34" charset="-122"/>
                <a:cs typeface="Calibri" pitchFamily="34" charset="-120"/>
              </a:rPr>
              <a:t>2. TF-IDF Vectorize</a:t>
            </a:r>
            <a:endParaRPr lang="en-US" sz="1300" dirty="0"/>
          </a:p>
        </p:txBody>
      </p:sp>
      <p:sp>
        <p:nvSpPr>
          <p:cNvPr id="14" name="Text 10"/>
          <p:cNvSpPr txBox="1"/>
          <p:nvPr/>
        </p:nvSpPr>
        <p:spPr>
          <a:xfrm>
            <a:off x="3520440" y="2926080"/>
            <a:ext cx="2276856" cy="914400"/>
          </a:xfrm>
          <a:prstGeom prst="rect">
            <a:avLst/>
          </a:prstGeom>
          <a:noFill/>
          <a:ln/>
        </p:spPr>
        <p:txBody>
          <a:bodyPr wrap="square" lIns="0" tIns="0" rIns="0" bIns="0" rtlCol="0" anchor="t"/>
          <a:lstStyle/>
          <a:p>
            <a:pPr marL="0" indent="0" algn="ctr">
              <a:buNone/>
            </a:pPr>
            <a:r>
              <a:rPr lang="en-US" sz="1100" dirty="0">
                <a:solidFill>
                  <a:srgbClr val="5C7A85"/>
                </a:solidFill>
                <a:latin typeface="Calibri" pitchFamily="34" charset="0"/>
                <a:ea typeface="Calibri" pitchFamily="34" charset="-122"/>
                <a:cs typeface="Calibri" pitchFamily="34" charset="-120"/>
              </a:rPr>
              <a:t>Fit a TF-IDF vectorizer over the cleaned question corpus</a:t>
            </a:r>
            <a:endParaRPr lang="en-US" sz="1100" dirty="0"/>
          </a:p>
        </p:txBody>
      </p:sp>
      <p:sp>
        <p:nvSpPr>
          <p:cNvPr id="15" name="Text 11"/>
          <p:cNvSpPr txBox="1"/>
          <p:nvPr/>
        </p:nvSpPr>
        <p:spPr>
          <a:xfrm>
            <a:off x="5961888" y="2468880"/>
            <a:ext cx="201168" cy="457200"/>
          </a:xfrm>
          <a:prstGeom prst="rect">
            <a:avLst/>
          </a:prstGeom>
          <a:noFill/>
          <a:ln/>
        </p:spPr>
        <p:txBody>
          <a:bodyPr wrap="square" lIns="0" tIns="0" rIns="0" bIns="0" rtlCol="0" anchor="ctr"/>
          <a:lstStyle/>
          <a:p>
            <a:pPr marL="0" indent="0" algn="ctr">
              <a:buNone/>
            </a:pPr>
            <a:r>
              <a:rPr lang="en-US" sz="1600" b="1" dirty="0">
                <a:solidFill>
                  <a:srgbClr val="00A896"/>
                </a:solidFill>
                <a:latin typeface="Arial" pitchFamily="34" charset="0"/>
                <a:ea typeface="Arial" pitchFamily="34" charset="-122"/>
                <a:cs typeface="Arial" pitchFamily="34" charset="-120"/>
              </a:rPr>
              <a:t>→</a:t>
            </a:r>
            <a:endParaRPr lang="en-US" sz="1600" dirty="0"/>
          </a:p>
        </p:txBody>
      </p:sp>
      <p:sp>
        <p:nvSpPr>
          <p:cNvPr id="16" name="Shape 12"/>
          <p:cNvSpPr/>
          <p:nvPr/>
        </p:nvSpPr>
        <p:spPr>
          <a:xfrm>
            <a:off x="6163056" y="1600200"/>
            <a:ext cx="2606040" cy="2286000"/>
          </a:xfrm>
          <a:prstGeom prst="roundRect">
            <a:avLst>
              <a:gd name="adj" fmla="val 3200"/>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17" name="Shape 13"/>
          <p:cNvSpPr/>
          <p:nvPr/>
        </p:nvSpPr>
        <p:spPr>
          <a:xfrm>
            <a:off x="7164324" y="1828800"/>
            <a:ext cx="603504" cy="603504"/>
          </a:xfrm>
          <a:prstGeom prst="ellipse">
            <a:avLst/>
          </a:prstGeom>
          <a:solidFill>
            <a:srgbClr val="028090"/>
          </a:solidFill>
          <a:ln/>
        </p:spPr>
      </p:sp>
      <p:pic>
        <p:nvPicPr>
          <p:cNvPr id="18" name="Image 2" descr="icons/brain.png"/>
          <p:cNvPicPr>
            <a:picLocks noChangeAspect="1"/>
          </p:cNvPicPr>
          <p:nvPr/>
        </p:nvPicPr>
        <p:blipFill>
          <a:blip r:embed="rId5"/>
          <a:stretch>
            <a:fillRect/>
          </a:stretch>
        </p:blipFill>
        <p:spPr>
          <a:xfrm>
            <a:off x="7230709" y="1895185"/>
            <a:ext cx="470733" cy="470733"/>
          </a:xfrm>
          <a:prstGeom prst="rect">
            <a:avLst/>
          </a:prstGeom>
        </p:spPr>
      </p:pic>
      <p:sp>
        <p:nvSpPr>
          <p:cNvPr id="19" name="Text 14"/>
          <p:cNvSpPr txBox="1"/>
          <p:nvPr/>
        </p:nvSpPr>
        <p:spPr>
          <a:xfrm>
            <a:off x="6327648" y="2560320"/>
            <a:ext cx="2276856" cy="365760"/>
          </a:xfrm>
          <a:prstGeom prst="rect">
            <a:avLst/>
          </a:prstGeom>
          <a:noFill/>
          <a:ln/>
        </p:spPr>
        <p:txBody>
          <a:bodyPr wrap="square" lIns="0" tIns="0" rIns="0" bIns="0" rtlCol="0" anchor="ctr"/>
          <a:lstStyle/>
          <a:p>
            <a:pPr marL="0" indent="0" algn="ctr">
              <a:buNone/>
            </a:pPr>
            <a:r>
              <a:rPr lang="en-US" sz="1300" b="1" dirty="0">
                <a:solidFill>
                  <a:srgbClr val="13293D"/>
                </a:solidFill>
                <a:latin typeface="Calibri" pitchFamily="34" charset="0"/>
                <a:ea typeface="Calibri" pitchFamily="34" charset="-122"/>
                <a:cs typeface="Calibri" pitchFamily="34" charset="-120"/>
              </a:rPr>
              <a:t>3. Train Classifier</a:t>
            </a:r>
            <a:endParaRPr lang="en-US" sz="1300" dirty="0"/>
          </a:p>
        </p:txBody>
      </p:sp>
      <p:sp>
        <p:nvSpPr>
          <p:cNvPr id="20" name="Text 15"/>
          <p:cNvSpPr txBox="1"/>
          <p:nvPr/>
        </p:nvSpPr>
        <p:spPr>
          <a:xfrm>
            <a:off x="6327648" y="2926080"/>
            <a:ext cx="2276856" cy="914400"/>
          </a:xfrm>
          <a:prstGeom prst="rect">
            <a:avLst/>
          </a:prstGeom>
          <a:noFill/>
          <a:ln/>
        </p:spPr>
        <p:txBody>
          <a:bodyPr wrap="square" lIns="0" tIns="0" rIns="0" bIns="0" rtlCol="0" anchor="t"/>
          <a:lstStyle/>
          <a:p>
            <a:pPr marL="0" indent="0" algn="ctr">
              <a:buNone/>
            </a:pPr>
            <a:r>
              <a:rPr lang="en-US" sz="1100" dirty="0">
                <a:solidFill>
                  <a:srgbClr val="5C7A85"/>
                </a:solidFill>
                <a:latin typeface="Calibri" pitchFamily="34" charset="0"/>
                <a:ea typeface="Calibri" pitchFamily="34" charset="-122"/>
                <a:cs typeface="Calibri" pitchFamily="34" charset="-120"/>
              </a:rPr>
              <a:t>Logistic Regression learns to map TF-IDF vectors to one of 8 intents</a:t>
            </a:r>
            <a:endParaRPr lang="en-US" sz="1100" dirty="0"/>
          </a:p>
        </p:txBody>
      </p:sp>
      <p:sp>
        <p:nvSpPr>
          <p:cNvPr id="21" name="Text 16"/>
          <p:cNvSpPr txBox="1"/>
          <p:nvPr/>
        </p:nvSpPr>
        <p:spPr>
          <a:xfrm>
            <a:off x="8769096" y="2468880"/>
            <a:ext cx="201168" cy="457200"/>
          </a:xfrm>
          <a:prstGeom prst="rect">
            <a:avLst/>
          </a:prstGeom>
          <a:noFill/>
          <a:ln/>
        </p:spPr>
        <p:txBody>
          <a:bodyPr wrap="square" lIns="0" tIns="0" rIns="0" bIns="0" rtlCol="0" anchor="ctr"/>
          <a:lstStyle/>
          <a:p>
            <a:pPr marL="0" indent="0" algn="ctr">
              <a:buNone/>
            </a:pPr>
            <a:r>
              <a:rPr lang="en-US" sz="1600" b="1" dirty="0">
                <a:solidFill>
                  <a:srgbClr val="00A896"/>
                </a:solidFill>
                <a:latin typeface="Arial" pitchFamily="34" charset="0"/>
                <a:ea typeface="Arial" pitchFamily="34" charset="-122"/>
                <a:cs typeface="Arial" pitchFamily="34" charset="-120"/>
              </a:rPr>
              <a:t>→</a:t>
            </a:r>
            <a:endParaRPr lang="en-US" sz="1600" dirty="0"/>
          </a:p>
        </p:txBody>
      </p:sp>
      <p:sp>
        <p:nvSpPr>
          <p:cNvPr id="22" name="Shape 17"/>
          <p:cNvSpPr/>
          <p:nvPr/>
        </p:nvSpPr>
        <p:spPr>
          <a:xfrm>
            <a:off x="8970264" y="1600200"/>
            <a:ext cx="2606040" cy="2286000"/>
          </a:xfrm>
          <a:prstGeom prst="roundRect">
            <a:avLst>
              <a:gd name="adj" fmla="val 3200"/>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23" name="Shape 18"/>
          <p:cNvSpPr/>
          <p:nvPr/>
        </p:nvSpPr>
        <p:spPr>
          <a:xfrm>
            <a:off x="9971532" y="1828800"/>
            <a:ext cx="603504" cy="603504"/>
          </a:xfrm>
          <a:prstGeom prst="ellipse">
            <a:avLst/>
          </a:prstGeom>
          <a:solidFill>
            <a:srgbClr val="028090"/>
          </a:solidFill>
          <a:ln/>
        </p:spPr>
      </p:sp>
      <p:pic>
        <p:nvPicPr>
          <p:cNvPr id="24" name="Image 3" descr="icons/check.png"/>
          <p:cNvPicPr>
            <a:picLocks noChangeAspect="1"/>
          </p:cNvPicPr>
          <p:nvPr/>
        </p:nvPicPr>
        <p:blipFill>
          <a:blip r:embed="rId6"/>
          <a:stretch>
            <a:fillRect/>
          </a:stretch>
        </p:blipFill>
        <p:spPr>
          <a:xfrm>
            <a:off x="10037917" y="1895185"/>
            <a:ext cx="470733" cy="470733"/>
          </a:xfrm>
          <a:prstGeom prst="rect">
            <a:avLst/>
          </a:prstGeom>
        </p:spPr>
      </p:pic>
      <p:sp>
        <p:nvSpPr>
          <p:cNvPr id="25" name="Text 19"/>
          <p:cNvSpPr txBox="1"/>
          <p:nvPr/>
        </p:nvSpPr>
        <p:spPr>
          <a:xfrm>
            <a:off x="9134856" y="2560320"/>
            <a:ext cx="2276856" cy="365760"/>
          </a:xfrm>
          <a:prstGeom prst="rect">
            <a:avLst/>
          </a:prstGeom>
          <a:noFill/>
          <a:ln/>
        </p:spPr>
        <p:txBody>
          <a:bodyPr wrap="square" lIns="0" tIns="0" rIns="0" bIns="0" rtlCol="0" anchor="ctr"/>
          <a:lstStyle/>
          <a:p>
            <a:pPr marL="0" indent="0" algn="ctr">
              <a:buNone/>
            </a:pPr>
            <a:r>
              <a:rPr lang="en-US" sz="1300" b="1" dirty="0">
                <a:solidFill>
                  <a:srgbClr val="13293D"/>
                </a:solidFill>
                <a:latin typeface="Calibri" pitchFamily="34" charset="0"/>
                <a:ea typeface="Calibri" pitchFamily="34" charset="-122"/>
                <a:cs typeface="Calibri" pitchFamily="34" charset="-120"/>
              </a:rPr>
              <a:t>4. Export Artifacts</a:t>
            </a:r>
            <a:endParaRPr lang="en-US" sz="1300" dirty="0"/>
          </a:p>
        </p:txBody>
      </p:sp>
      <p:sp>
        <p:nvSpPr>
          <p:cNvPr id="26" name="Text 20"/>
          <p:cNvSpPr txBox="1"/>
          <p:nvPr/>
        </p:nvSpPr>
        <p:spPr>
          <a:xfrm>
            <a:off x="9134856" y="2926080"/>
            <a:ext cx="2276856" cy="914400"/>
          </a:xfrm>
          <a:prstGeom prst="rect">
            <a:avLst/>
          </a:prstGeom>
          <a:noFill/>
          <a:ln/>
        </p:spPr>
        <p:txBody>
          <a:bodyPr wrap="square" lIns="0" tIns="0" rIns="0" bIns="0" rtlCol="0" anchor="t"/>
          <a:lstStyle/>
          <a:p>
            <a:pPr marL="0" indent="0" algn="ctr">
              <a:buNone/>
            </a:pPr>
            <a:r>
              <a:rPr lang="en-US" sz="1100" dirty="0">
                <a:solidFill>
                  <a:srgbClr val="5C7A85"/>
                </a:solidFill>
                <a:latin typeface="Calibri" pitchFamily="34" charset="0"/>
                <a:ea typeface="Calibri" pitchFamily="34" charset="-122"/>
                <a:cs typeface="Calibri" pitchFamily="34" charset="-120"/>
              </a:rPr>
              <a:t>Save model, vectorizer, and intent classes as .pkl files for the API</a:t>
            </a:r>
            <a:endParaRPr lang="en-US" sz="1100" dirty="0"/>
          </a:p>
        </p:txBody>
      </p:sp>
      <p:sp>
        <p:nvSpPr>
          <p:cNvPr id="27" name="Shape 21"/>
          <p:cNvSpPr/>
          <p:nvPr/>
        </p:nvSpPr>
        <p:spPr>
          <a:xfrm>
            <a:off x="548640" y="4160520"/>
            <a:ext cx="11064240" cy="1783080"/>
          </a:xfrm>
          <a:prstGeom prst="roundRect">
            <a:avLst>
              <a:gd name="adj" fmla="val 4103"/>
            </a:avLst>
          </a:prstGeom>
          <a:solidFill>
            <a:srgbClr val="EAF4F3"/>
          </a:solidFill>
          <a:ln/>
        </p:spPr>
      </p:sp>
      <p:sp>
        <p:nvSpPr>
          <p:cNvPr id="28" name="Shape 22"/>
          <p:cNvSpPr/>
          <p:nvPr/>
        </p:nvSpPr>
        <p:spPr>
          <a:xfrm>
            <a:off x="822960" y="4416552"/>
            <a:ext cx="548640" cy="548640"/>
          </a:xfrm>
          <a:prstGeom prst="ellipse">
            <a:avLst/>
          </a:prstGeom>
          <a:solidFill>
            <a:srgbClr val="00A896"/>
          </a:solidFill>
          <a:ln/>
        </p:spPr>
      </p:sp>
      <p:pic>
        <p:nvPicPr>
          <p:cNvPr id="29" name="Image 4" descr="icons/layers.png"/>
          <p:cNvPicPr>
            <a:picLocks noChangeAspect="1"/>
          </p:cNvPicPr>
          <p:nvPr/>
        </p:nvPicPr>
        <p:blipFill>
          <a:blip r:embed="rId7"/>
          <a:stretch>
            <a:fillRect/>
          </a:stretch>
        </p:blipFill>
        <p:spPr>
          <a:xfrm>
            <a:off x="883310" y="4476902"/>
            <a:ext cx="427939" cy="427939"/>
          </a:xfrm>
          <a:prstGeom prst="rect">
            <a:avLst/>
          </a:prstGeom>
        </p:spPr>
      </p:pic>
      <p:sp>
        <p:nvSpPr>
          <p:cNvPr id="30" name="Text 23"/>
          <p:cNvSpPr txBox="1"/>
          <p:nvPr/>
        </p:nvSpPr>
        <p:spPr>
          <a:xfrm>
            <a:off x="1554480" y="4343400"/>
            <a:ext cx="4572000" cy="320040"/>
          </a:xfrm>
          <a:prstGeom prst="rect">
            <a:avLst/>
          </a:prstGeom>
          <a:noFill/>
          <a:ln/>
        </p:spPr>
        <p:txBody>
          <a:bodyPr wrap="square" lIns="0" tIns="0" rIns="0" bIns="0"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Shipped model files</a:t>
            </a:r>
            <a:endParaRPr lang="en-US" sz="1300" dirty="0"/>
          </a:p>
        </p:txBody>
      </p:sp>
      <p:sp>
        <p:nvSpPr>
          <p:cNvPr id="31" name="Text 24"/>
          <p:cNvSpPr txBox="1"/>
          <p:nvPr/>
        </p:nvSpPr>
        <p:spPr>
          <a:xfrm>
            <a:off x="1554480" y="4709160"/>
            <a:ext cx="9601200" cy="11887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3293D"/>
                </a:solidFill>
                <a:latin typeface="Calibri" pitchFamily="34" charset="0"/>
                <a:ea typeface="Calibri" pitchFamily="34" charset="-122"/>
                <a:cs typeface="Calibri" pitchFamily="34" charset="-120"/>
              </a:rPr>
              <a:t>logistic_regression_model.pkl — trained intent classifier</a:t>
            </a:r>
            <a:endParaRPr lang="en-US" sz="1150" dirty="0"/>
          </a:p>
          <a:p>
            <a:pPr marL="342900" indent="-342900">
              <a:spcAft>
                <a:spcPts val="600"/>
              </a:spcAft>
              <a:buSzPct val="100000"/>
              <a:buChar char="▪"/>
            </a:pPr>
            <a:r>
              <a:rPr lang="en-US" sz="1150" dirty="0">
                <a:solidFill>
                  <a:srgbClr val="13293D"/>
                </a:solidFill>
                <a:latin typeface="Calibri" pitchFamily="34" charset="0"/>
                <a:ea typeface="Calibri" pitchFamily="34" charset="-122"/>
                <a:cs typeface="Calibri" pitchFamily="34" charset="-120"/>
              </a:rPr>
              <a:t>tfidf_vectorizer.pkl — fitted vectorizer, vocabulary locked to training</a:t>
            </a:r>
            <a:endParaRPr lang="en-US" sz="1150" dirty="0"/>
          </a:p>
          <a:p>
            <a:pPr marL="342900" indent="-342900">
              <a:spcAft>
                <a:spcPts val="600"/>
              </a:spcAft>
              <a:buSzPct val="100000"/>
              <a:buChar char="▪"/>
            </a:pPr>
            <a:r>
              <a:rPr lang="en-US" sz="1150" dirty="0">
                <a:solidFill>
                  <a:srgbClr val="13293D"/>
                </a:solidFill>
                <a:latin typeface="Calibri" pitchFamily="34" charset="0"/>
                <a:ea typeface="Calibri" pitchFamily="34" charset="-122"/>
                <a:cs typeface="Calibri" pitchFamily="34" charset="-120"/>
              </a:rPr>
              <a:t>intent_classes.pkl — the 8 intent labels, verified identical to the dataset's own Intent column</a:t>
            </a:r>
            <a:endParaRPr lang="en-US" sz="1150" dirty="0"/>
          </a:p>
        </p:txBody>
      </p:sp>
      <p:sp>
        <p:nvSpPr>
          <p:cNvPr id="32" name="Text 25"/>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C7A85"/>
                </a:solidFill>
                <a:latin typeface="Calibri" pitchFamily="34" charset="0"/>
                <a:ea typeface="Calibri" pitchFamily="34" charset="-122"/>
                <a:cs typeface="Calibri" pitchFamily="34" charset="-120"/>
              </a:rPr>
              <a:t>07</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22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22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22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22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22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22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wipe(left)">
                                      <p:cBhvr>
                                        <p:cTn id="107" dur="22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22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220"/>
                                        <p:tgtEl>
                                          <p:spTgt spid="24"/>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22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220"/>
                                        <p:tgtEl>
                                          <p:spTgt spid="26"/>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wipe(left)">
                                      <p:cBhvr>
                                        <p:cTn id="132" dur="220"/>
                                        <p:tgtEl>
                                          <p:spTgt spid="27"/>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220"/>
                                        <p:tgtEl>
                                          <p:spTgt spid="28"/>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220"/>
                                        <p:tgtEl>
                                          <p:spTgt spid="29"/>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220"/>
                                        <p:tgtEl>
                                          <p:spTgt spid="30"/>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220"/>
                                        <p:tgtEl>
                                          <p:spTgt spid="31"/>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32"/>
                                        </p:tgtEl>
                                        <p:attrNameLst>
                                          <p:attrName>style.visibility</p:attrName>
                                        </p:attrNameLst>
                                      </p:cBhvr>
                                      <p:to>
                                        <p:strVal val="visible"/>
                                      </p:to>
                                    </p:set>
                                    <p:animEffect transition="in" filter="wipe(left)">
                                      <p:cBhvr>
                                        <p:cTn id="157" dur="22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animBg="1"/>
      <p:bldP spid="12" grpId="0"/>
      <p:bldP spid="13" grpId="0" animBg="1"/>
      <p:bldP spid="14" grpId="0" animBg="1"/>
      <p:bldP spid="15" grpId="0" animBg="1"/>
      <p:bldP spid="16" grpId="0" animBg="1"/>
      <p:bldP spid="17" grpId="0" animBg="1"/>
      <p:bldP spid="18" grpId="0"/>
      <p:bldP spid="19" grpId="0" animBg="1"/>
      <p:bldP spid="20" grpId="0" animBg="1"/>
      <p:bldP spid="21" grpId="0" animBg="1"/>
      <p:bldP spid="22" grpId="0" animBg="1"/>
      <p:bldP spid="23" grpId="0" animBg="1"/>
      <p:bldP spid="24" grpId="0"/>
      <p:bldP spid="25" grpId="0" animBg="1"/>
      <p:bldP spid="26" grpId="0" animBg="1"/>
      <p:bldP spid="27" grpId="0" animBg="1"/>
      <p:bldP spid="28" grpId="0" animBg="1"/>
      <p:bldP spid="29" grpId="0"/>
      <p:bldP spid="30" grpId="0" animBg="1"/>
      <p:bldP spid="31" grpId="0" animBg="1"/>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PAIR 3 — PRATIKSHA DAS &amp; MAKSUD MIRZA</a:t>
            </a:r>
            <a:endParaRPr lang="en-US" sz="1300" dirty="0"/>
          </a:p>
        </p:txBody>
      </p:sp>
      <p:sp>
        <p:nvSpPr>
          <p:cNvPr id="3" name="Text 1"/>
          <p:cNvSpPr txBox="1"/>
          <p:nvPr/>
        </p:nvSpPr>
        <p:spPr>
          <a:xfrm>
            <a:off x="548640" y="685800"/>
            <a:ext cx="9601200" cy="548640"/>
          </a:xfrm>
          <a:prstGeom prst="rect">
            <a:avLst/>
          </a:prstGeom>
          <a:noFill/>
          <a:ln/>
        </p:spPr>
        <p:txBody>
          <a:bodyPr wrap="square" lIns="0" tIns="0" rIns="0" bIns="0" rtlCol="0" anchor="ctr"/>
          <a:lstStyle/>
          <a:p>
            <a:pPr marL="0" indent="0">
              <a:buNone/>
            </a:pPr>
            <a:r>
              <a:rPr lang="en-US" sz="2800" b="1" dirty="0">
                <a:solidFill>
                  <a:srgbClr val="13293D"/>
                </a:solidFill>
                <a:latin typeface="Cambria" pitchFamily="34" charset="0"/>
                <a:ea typeface="Cambria" pitchFamily="34" charset="-122"/>
                <a:cs typeface="Cambria" pitchFamily="34" charset="-120"/>
              </a:rPr>
              <a:t>Chatbot Interface &amp; Integration</a:t>
            </a:r>
            <a:endParaRPr lang="en-US" sz="2800" dirty="0"/>
          </a:p>
        </p:txBody>
      </p:sp>
      <p:sp>
        <p:nvSpPr>
          <p:cNvPr id="4" name="Shape 2"/>
          <p:cNvSpPr/>
          <p:nvPr/>
        </p:nvSpPr>
        <p:spPr>
          <a:xfrm>
            <a:off x="548640" y="1554480"/>
            <a:ext cx="5394960" cy="4434840"/>
          </a:xfrm>
          <a:prstGeom prst="roundRect">
            <a:avLst>
              <a:gd name="adj" fmla="val 1649"/>
            </a:avLst>
          </a:prstGeom>
          <a:solidFill>
            <a:srgbClr val="FFFFFF"/>
          </a:solidFill>
          <a:ln w="12700">
            <a:solidFill>
              <a:srgbClr val="DCEEEC"/>
            </a:solidFill>
            <a:prstDash val="solid"/>
          </a:ln>
        </p:spPr>
      </p:sp>
      <p:sp>
        <p:nvSpPr>
          <p:cNvPr id="5" name="Shape 3"/>
          <p:cNvSpPr/>
          <p:nvPr/>
        </p:nvSpPr>
        <p:spPr>
          <a:xfrm>
            <a:off x="868680" y="1828800"/>
            <a:ext cx="594360" cy="594360"/>
          </a:xfrm>
          <a:prstGeom prst="ellipse">
            <a:avLst/>
          </a:prstGeom>
          <a:solidFill>
            <a:srgbClr val="028090"/>
          </a:solidFill>
          <a:ln/>
        </p:spPr>
      </p:sp>
      <p:pic>
        <p:nvPicPr>
          <p:cNvPr id="6" name="Image 0" descr="icons/desktop.png"/>
          <p:cNvPicPr>
            <a:picLocks noChangeAspect="1"/>
          </p:cNvPicPr>
          <p:nvPr/>
        </p:nvPicPr>
        <p:blipFill>
          <a:blip r:embed="rId3"/>
          <a:stretch>
            <a:fillRect/>
          </a:stretch>
        </p:blipFill>
        <p:spPr>
          <a:xfrm>
            <a:off x="934060" y="1894180"/>
            <a:ext cx="463601" cy="463601"/>
          </a:xfrm>
          <a:prstGeom prst="rect">
            <a:avLst/>
          </a:prstGeom>
        </p:spPr>
      </p:pic>
      <p:sp>
        <p:nvSpPr>
          <p:cNvPr id="7" name="Text 4"/>
          <p:cNvSpPr txBox="1"/>
          <p:nvPr/>
        </p:nvSpPr>
        <p:spPr>
          <a:xfrm>
            <a:off x="1600200" y="1920240"/>
            <a:ext cx="4114800" cy="41148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React + TypeScript Frontend</a:t>
            </a:r>
            <a:endParaRPr lang="en-US" sz="1500" dirty="0"/>
          </a:p>
        </p:txBody>
      </p:sp>
      <p:sp>
        <p:nvSpPr>
          <p:cNvPr id="8" name="Text 5"/>
          <p:cNvSpPr txBox="1"/>
          <p:nvPr/>
        </p:nvSpPr>
        <p:spPr>
          <a:xfrm>
            <a:off x="868680" y="2606040"/>
            <a:ext cx="4800600" cy="2377440"/>
          </a:xfrm>
          <a:prstGeom prst="rect">
            <a:avLst/>
          </a:prstGeom>
          <a:noFill/>
          <a:ln/>
        </p:spPr>
        <p:txBody>
          <a:bodyPr wrap="square" lIns="0" tIns="0" rIns="0" bIns="0" rtlCol="0" anchor="t"/>
          <a:lstStyle/>
          <a:p>
            <a:pPr marL="342900" indent="-342900">
              <a:spcAft>
                <a:spcPts val="1200"/>
              </a:spcAft>
              <a:buSzPct val="100000"/>
              <a:buChar char="▪"/>
            </a:pPr>
            <a:r>
              <a:rPr lang="en-US" sz="1250" dirty="0">
                <a:solidFill>
                  <a:srgbClr val="13293D"/>
                </a:solidFill>
                <a:latin typeface="Calibri" pitchFamily="34" charset="0"/>
                <a:ea typeface="Calibri" pitchFamily="34" charset="-122"/>
                <a:cs typeface="Calibri" pitchFamily="34" charset="-120"/>
              </a:rPr>
              <a:t>Vite-powered chat UI with message history, sidebar, and category shortcut cards</a:t>
            </a:r>
            <a:endParaRPr lang="en-US" sz="1250" dirty="0"/>
          </a:p>
          <a:p>
            <a:pPr marL="342900" indent="-342900">
              <a:spcAft>
                <a:spcPts val="1200"/>
              </a:spcAft>
              <a:buSzPct val="100000"/>
              <a:buChar char="▪"/>
            </a:pPr>
            <a:r>
              <a:rPr lang="en-US" sz="1250" dirty="0">
                <a:solidFill>
                  <a:srgbClr val="13293D"/>
                </a:solidFill>
                <a:latin typeface="Calibri" pitchFamily="34" charset="0"/>
                <a:ea typeface="Calibri" pitchFamily="34" charset="-122"/>
                <a:cs typeface="Calibri" pitchFamily="34" charset="-120"/>
              </a:rPr>
              <a:t>Suggested-question chips and a brochure modal for quick access to common info</a:t>
            </a:r>
            <a:endParaRPr lang="en-US" sz="1250" dirty="0"/>
          </a:p>
          <a:p>
            <a:pPr marL="342900" indent="-342900">
              <a:spcAft>
                <a:spcPts val="1200"/>
              </a:spcAft>
              <a:buSzPct val="100000"/>
              <a:buChar char="▪"/>
            </a:pPr>
            <a:r>
              <a:rPr lang="en-US" sz="1250" dirty="0">
                <a:solidFill>
                  <a:srgbClr val="13293D"/>
                </a:solidFill>
                <a:latin typeface="Calibri" pitchFamily="34" charset="0"/>
                <a:ea typeface="Calibri" pitchFamily="34" charset="-122"/>
                <a:cs typeface="Calibri" pitchFamily="34" charset="-120"/>
              </a:rPr>
              <a:t>Settings panel lets the backend URL be reconfigured for deployment</a:t>
            </a:r>
            <a:endParaRPr lang="en-US" sz="1250" dirty="0"/>
          </a:p>
        </p:txBody>
      </p:sp>
      <p:sp>
        <p:nvSpPr>
          <p:cNvPr id="9" name="Shape 6"/>
          <p:cNvSpPr/>
          <p:nvPr/>
        </p:nvSpPr>
        <p:spPr>
          <a:xfrm>
            <a:off x="6126480" y="1554480"/>
            <a:ext cx="5486400" cy="4434840"/>
          </a:xfrm>
          <a:prstGeom prst="roundRect">
            <a:avLst>
              <a:gd name="adj" fmla="val 1649"/>
            </a:avLst>
          </a:prstGeom>
          <a:solidFill>
            <a:srgbClr val="0B2545"/>
          </a:solidFill>
          <a:ln/>
        </p:spPr>
      </p:sp>
      <p:sp>
        <p:nvSpPr>
          <p:cNvPr id="10" name="Shape 7"/>
          <p:cNvSpPr/>
          <p:nvPr/>
        </p:nvSpPr>
        <p:spPr>
          <a:xfrm>
            <a:off x="6446520" y="1828800"/>
            <a:ext cx="594360" cy="594360"/>
          </a:xfrm>
          <a:prstGeom prst="ellipse">
            <a:avLst/>
          </a:prstGeom>
          <a:solidFill>
            <a:srgbClr val="02C39A"/>
          </a:solidFill>
          <a:ln/>
        </p:spPr>
      </p:sp>
      <p:pic>
        <p:nvPicPr>
          <p:cNvPr id="11" name="Image 1" descr="icons/server.png"/>
          <p:cNvPicPr>
            <a:picLocks noChangeAspect="1"/>
          </p:cNvPicPr>
          <p:nvPr/>
        </p:nvPicPr>
        <p:blipFill>
          <a:blip r:embed="rId4"/>
          <a:stretch>
            <a:fillRect/>
          </a:stretch>
        </p:blipFill>
        <p:spPr>
          <a:xfrm>
            <a:off x="6511900" y="1894180"/>
            <a:ext cx="463601" cy="463601"/>
          </a:xfrm>
          <a:prstGeom prst="rect">
            <a:avLst/>
          </a:prstGeom>
        </p:spPr>
      </p:pic>
      <p:sp>
        <p:nvSpPr>
          <p:cNvPr id="12" name="Text 8"/>
          <p:cNvSpPr txBox="1"/>
          <p:nvPr/>
        </p:nvSpPr>
        <p:spPr>
          <a:xfrm>
            <a:off x="7178040" y="1920240"/>
            <a:ext cx="429768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Flask API Integration</a:t>
            </a:r>
            <a:endParaRPr lang="en-US" sz="1500" dirty="0"/>
          </a:p>
        </p:txBody>
      </p:sp>
      <p:sp>
        <p:nvSpPr>
          <p:cNvPr id="13" name="Text 9"/>
          <p:cNvSpPr txBox="1"/>
          <p:nvPr/>
        </p:nvSpPr>
        <p:spPr>
          <a:xfrm>
            <a:off x="6446520" y="2606040"/>
            <a:ext cx="4937760" cy="2377440"/>
          </a:xfrm>
          <a:prstGeom prst="rect">
            <a:avLst/>
          </a:prstGeom>
          <a:noFill/>
          <a:ln/>
        </p:spPr>
        <p:txBody>
          <a:bodyPr wrap="square" lIns="0" tIns="0" rIns="0" bIns="0" rtlCol="0" anchor="t"/>
          <a:lstStyle/>
          <a:p>
            <a:pPr marL="342900" indent="-342900">
              <a:spcAft>
                <a:spcPts val="1200"/>
              </a:spcAft>
              <a:buSzPct val="100000"/>
              <a:buChar char="▪"/>
            </a:pPr>
            <a:r>
              <a:rPr lang="en-US" sz="1250" dirty="0">
                <a:solidFill>
                  <a:srgbClr val="E5F6F5"/>
                </a:solidFill>
                <a:latin typeface="Calibri" pitchFamily="34" charset="0"/>
                <a:ea typeface="Calibri" pitchFamily="34" charset="-122"/>
                <a:cs typeface="Calibri" pitchFamily="34" charset="-120"/>
              </a:rPr>
              <a:t>Single POST /predict endpoint — question in, intent + verified response out</a:t>
            </a:r>
            <a:endParaRPr lang="en-US" sz="1250" dirty="0"/>
          </a:p>
          <a:p>
            <a:pPr marL="342900" indent="-342900">
              <a:spcAft>
                <a:spcPts val="1200"/>
              </a:spcAft>
              <a:buSzPct val="100000"/>
              <a:buChar char="▪"/>
            </a:pPr>
            <a:r>
              <a:rPr lang="en-US" sz="1250" dirty="0">
                <a:solidFill>
                  <a:srgbClr val="E5F6F5"/>
                </a:solidFill>
                <a:latin typeface="Calibri" pitchFamily="34" charset="0"/>
                <a:ea typeface="Calibri" pitchFamily="34" charset="-122"/>
                <a:cs typeface="Calibri" pitchFamily="34" charset="-120"/>
              </a:rPr>
              <a:t>CORS-enabled Flask API so the React app can call it directly from the browser</a:t>
            </a:r>
            <a:endParaRPr lang="en-US" sz="1250" dirty="0"/>
          </a:p>
          <a:p>
            <a:pPr marL="342900" indent="-342900">
              <a:spcAft>
                <a:spcPts val="1200"/>
              </a:spcAft>
              <a:buSzPct val="100000"/>
              <a:buChar char="▪"/>
            </a:pPr>
            <a:r>
              <a:rPr lang="en-US" sz="1250" dirty="0">
                <a:solidFill>
                  <a:srgbClr val="E5F6F5"/>
                </a:solidFill>
                <a:latin typeface="Calibri" pitchFamily="34" charset="0"/>
                <a:ea typeface="Calibri" pitchFamily="34" charset="-122"/>
                <a:cs typeface="Calibri" pitchFamily="34" charset="-120"/>
              </a:rPr>
              <a:t>Wired the frontend's API connector service to the real backend response shape (intent, confidence, source, matched_question)</a:t>
            </a:r>
            <a:endParaRPr lang="en-US" sz="1250" dirty="0"/>
          </a:p>
        </p:txBody>
      </p:sp>
      <p:sp>
        <p:nvSpPr>
          <p:cNvPr id="14" name="Text 10"/>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C7A85"/>
                </a:solidFill>
                <a:latin typeface="Calibri" pitchFamily="34" charset="0"/>
                <a:ea typeface="Calibri" pitchFamily="34" charset="-122"/>
                <a:cs typeface="Calibri" pitchFamily="34" charset="-120"/>
              </a:rPr>
              <a:t>08</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p:bldP spid="12"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DEBUGGING &amp; FIXES</a:t>
            </a:r>
            <a:endParaRPr lang="en-US" sz="1300" dirty="0"/>
          </a:p>
        </p:txBody>
      </p:sp>
      <p:sp>
        <p:nvSpPr>
          <p:cNvPr id="3" name="Text 1"/>
          <p:cNvSpPr txBox="1"/>
          <p:nvPr/>
        </p:nvSpPr>
        <p:spPr>
          <a:xfrm>
            <a:off x="548640" y="685800"/>
            <a:ext cx="9601200" cy="548640"/>
          </a:xfrm>
          <a:prstGeom prst="rect">
            <a:avLst/>
          </a:prstGeom>
          <a:noFill/>
          <a:ln/>
        </p:spPr>
        <p:txBody>
          <a:bodyPr wrap="square" lIns="0" tIns="0" rIns="0" bIns="0" rtlCol="0" anchor="ctr"/>
          <a:lstStyle/>
          <a:p>
            <a:pPr marL="0" indent="0">
              <a:buNone/>
            </a:pPr>
            <a:r>
              <a:rPr lang="en-US" sz="2800" b="1" dirty="0">
                <a:solidFill>
                  <a:srgbClr val="13293D"/>
                </a:solidFill>
                <a:latin typeface="Cambria" pitchFamily="34" charset="0"/>
                <a:ea typeface="Cambria" pitchFamily="34" charset="-122"/>
                <a:cs typeface="Cambria" pitchFamily="34" charset="-120"/>
              </a:rPr>
              <a:t>Issues We Faced — and Fixed</a:t>
            </a:r>
            <a:endParaRPr lang="en-US" sz="2800" dirty="0"/>
          </a:p>
        </p:txBody>
      </p:sp>
      <p:sp>
        <p:nvSpPr>
          <p:cNvPr id="4" name="Shape 2"/>
          <p:cNvSpPr/>
          <p:nvPr/>
        </p:nvSpPr>
        <p:spPr>
          <a:xfrm>
            <a:off x="548640" y="1554480"/>
            <a:ext cx="5394960" cy="2148840"/>
          </a:xfrm>
          <a:prstGeom prst="roundRect">
            <a:avLst>
              <a:gd name="adj" fmla="val 3404"/>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5" name="Shape 3"/>
          <p:cNvSpPr/>
          <p:nvPr/>
        </p:nvSpPr>
        <p:spPr>
          <a:xfrm>
            <a:off x="749808" y="1737360"/>
            <a:ext cx="502920" cy="502920"/>
          </a:xfrm>
          <a:prstGeom prst="ellipse">
            <a:avLst/>
          </a:prstGeom>
          <a:solidFill>
            <a:srgbClr val="028090"/>
          </a:solidFill>
          <a:ln/>
        </p:spPr>
      </p:sp>
      <p:pic>
        <p:nvPicPr>
          <p:cNvPr id="6" name="Image 0" descr="icons/alert.png"/>
          <p:cNvPicPr>
            <a:picLocks noChangeAspect="1"/>
          </p:cNvPicPr>
          <p:nvPr/>
        </p:nvPicPr>
        <p:blipFill>
          <a:blip r:embed="rId3"/>
          <a:stretch>
            <a:fillRect/>
          </a:stretch>
        </p:blipFill>
        <p:spPr>
          <a:xfrm>
            <a:off x="805129" y="1792681"/>
            <a:ext cx="392278" cy="392278"/>
          </a:xfrm>
          <a:prstGeom prst="rect">
            <a:avLst/>
          </a:prstGeom>
        </p:spPr>
      </p:pic>
      <p:sp>
        <p:nvSpPr>
          <p:cNvPr id="7" name="Text 4"/>
          <p:cNvSpPr txBox="1"/>
          <p:nvPr/>
        </p:nvSpPr>
        <p:spPr>
          <a:xfrm>
            <a:off x="1417320" y="1719072"/>
            <a:ext cx="4343400" cy="502920"/>
          </a:xfrm>
          <a:prstGeom prst="rect">
            <a:avLst/>
          </a:prstGeom>
          <a:noFill/>
          <a:ln/>
        </p:spPr>
        <p:txBody>
          <a:bodyPr wrap="square" lIns="0" tIns="0" rIns="0" bIns="0" rtlCol="0" anchor="t"/>
          <a:lstStyle/>
          <a:p>
            <a:pPr marL="0" indent="0">
              <a:buNone/>
            </a:pPr>
            <a:r>
              <a:rPr lang="en-US" sz="1300" b="1" dirty="0">
                <a:solidFill>
                  <a:srgbClr val="13293D"/>
                </a:solidFill>
                <a:latin typeface="Calibri" pitchFamily="34" charset="0"/>
                <a:ea typeface="Calibri" pitchFamily="34" charset="-122"/>
                <a:cs typeface="Calibri" pitchFamily="34" charset="-120"/>
              </a:rPr>
              <a:t>Multi-college data contamination</a:t>
            </a:r>
            <a:endParaRPr lang="en-US" sz="1300" dirty="0"/>
          </a:p>
        </p:txBody>
      </p:sp>
      <p:sp>
        <p:nvSpPr>
          <p:cNvPr id="8" name="Text 5"/>
          <p:cNvSpPr txBox="1"/>
          <p:nvPr/>
        </p:nvSpPr>
        <p:spPr>
          <a:xfrm>
            <a:off x="749808" y="2331720"/>
            <a:ext cx="4992624" cy="640080"/>
          </a:xfrm>
          <a:prstGeom prst="rect">
            <a:avLst/>
          </a:prstGeom>
          <a:noFill/>
          <a:ln/>
        </p:spPr>
        <p:txBody>
          <a:bodyPr wrap="square" lIns="0" tIns="0" rIns="0" bIns="0" rtlCol="0" anchor="t"/>
          <a:lstStyle/>
          <a:p>
            <a:pPr marL="0" indent="0">
              <a:buNone/>
            </a:pPr>
            <a:r>
              <a:rPr lang="en-US" sz="1100" b="1" dirty="0">
                <a:solidFill>
                  <a:srgbClr val="B3261E"/>
                </a:solidFill>
                <a:latin typeface="Calibri" pitchFamily="34" charset="0"/>
                <a:ea typeface="Calibri" pitchFamily="34" charset="-122"/>
                <a:cs typeface="Calibri" pitchFamily="34" charset="-120"/>
              </a:rPr>
              <a:t>Problem: </a:t>
            </a:r>
            <a:r>
              <a:rPr lang="en-US" sz="1100" dirty="0">
                <a:solidFill>
                  <a:srgbClr val="13293D"/>
                </a:solidFill>
                <a:latin typeface="Calibri" pitchFamily="34" charset="0"/>
                <a:ea typeface="Calibri" pitchFamily="34" charset="-122"/>
                <a:cs typeface="Calibri" pitchFamily="34" charset="-120"/>
              </a:rPr>
              <a:t>Early dataset mixed Q&amp;A from multiple colleges, so answers about fees, hostels, and courses conflicted with each other.</a:t>
            </a:r>
            <a:endParaRPr lang="en-US" sz="1100" dirty="0"/>
          </a:p>
        </p:txBody>
      </p:sp>
      <p:sp>
        <p:nvSpPr>
          <p:cNvPr id="9" name="Text 6"/>
          <p:cNvSpPr txBox="1"/>
          <p:nvPr/>
        </p:nvSpPr>
        <p:spPr>
          <a:xfrm>
            <a:off x="749808" y="2971800"/>
            <a:ext cx="4992624" cy="685800"/>
          </a:xfrm>
          <a:prstGeom prst="rect">
            <a:avLst/>
          </a:prstGeom>
          <a:noFill/>
          <a:ln/>
        </p:spPr>
        <p:txBody>
          <a:bodyPr wrap="square" lIns="0" tIns="0" rIns="0" bIns="0" rtlCol="0" anchor="t"/>
          <a:lstStyle/>
          <a:p>
            <a:pPr marL="0" indent="0">
              <a:buNone/>
            </a:pPr>
            <a:r>
              <a:rPr lang="en-US" sz="1100" b="1" dirty="0">
                <a:solidFill>
                  <a:srgbClr val="00A896"/>
                </a:solidFill>
                <a:latin typeface="Calibri" pitchFamily="34" charset="0"/>
                <a:ea typeface="Calibri" pitchFamily="34" charset="-122"/>
                <a:cs typeface="Calibri" pitchFamily="34" charset="-120"/>
              </a:rPr>
              <a:t>Fix: </a:t>
            </a:r>
            <a:r>
              <a:rPr lang="en-US" sz="1100" dirty="0">
                <a:solidFill>
                  <a:srgbClr val="13293D"/>
                </a:solidFill>
                <a:latin typeface="Calibri" pitchFamily="34" charset="0"/>
                <a:ea typeface="Calibri" pitchFamily="34" charset="-122"/>
                <a:cs typeface="Calibri" pitchFamily="34" charset="-120"/>
              </a:rPr>
              <a:t>Scoped the entire dataset to one college — Galgotias University — and re-verified every row against its official source.</a:t>
            </a:r>
            <a:endParaRPr lang="en-US" sz="1100" dirty="0"/>
          </a:p>
        </p:txBody>
      </p:sp>
      <p:sp>
        <p:nvSpPr>
          <p:cNvPr id="10" name="Shape 7"/>
          <p:cNvSpPr/>
          <p:nvPr/>
        </p:nvSpPr>
        <p:spPr>
          <a:xfrm>
            <a:off x="6217920" y="1554480"/>
            <a:ext cx="5394960" cy="2148840"/>
          </a:xfrm>
          <a:prstGeom prst="roundRect">
            <a:avLst>
              <a:gd name="adj" fmla="val 3404"/>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11" name="Shape 8"/>
          <p:cNvSpPr/>
          <p:nvPr/>
        </p:nvSpPr>
        <p:spPr>
          <a:xfrm>
            <a:off x="6419088" y="1737360"/>
            <a:ext cx="502920" cy="502920"/>
          </a:xfrm>
          <a:prstGeom prst="ellipse">
            <a:avLst/>
          </a:prstGeom>
          <a:solidFill>
            <a:srgbClr val="028090"/>
          </a:solidFill>
          <a:ln/>
        </p:spPr>
      </p:sp>
      <p:pic>
        <p:nvPicPr>
          <p:cNvPr id="12" name="Image 1" descr="icons/bolt.png"/>
          <p:cNvPicPr>
            <a:picLocks noChangeAspect="1"/>
          </p:cNvPicPr>
          <p:nvPr/>
        </p:nvPicPr>
        <p:blipFill>
          <a:blip r:embed="rId4"/>
          <a:stretch>
            <a:fillRect/>
          </a:stretch>
        </p:blipFill>
        <p:spPr>
          <a:xfrm>
            <a:off x="6474409" y="1792681"/>
            <a:ext cx="392278" cy="392278"/>
          </a:xfrm>
          <a:prstGeom prst="rect">
            <a:avLst/>
          </a:prstGeom>
        </p:spPr>
      </p:pic>
      <p:sp>
        <p:nvSpPr>
          <p:cNvPr id="13" name="Text 9"/>
          <p:cNvSpPr txBox="1"/>
          <p:nvPr/>
        </p:nvSpPr>
        <p:spPr>
          <a:xfrm>
            <a:off x="7086600" y="1719072"/>
            <a:ext cx="4343400" cy="502920"/>
          </a:xfrm>
          <a:prstGeom prst="rect">
            <a:avLst/>
          </a:prstGeom>
          <a:noFill/>
          <a:ln/>
        </p:spPr>
        <p:txBody>
          <a:bodyPr wrap="square" lIns="0" tIns="0" rIns="0" bIns="0" rtlCol="0" anchor="t"/>
          <a:lstStyle/>
          <a:p>
            <a:pPr marL="0" indent="0">
              <a:buNone/>
            </a:pPr>
            <a:r>
              <a:rPr lang="en-US" sz="1300" b="1" dirty="0">
                <a:solidFill>
                  <a:srgbClr val="13293D"/>
                </a:solidFill>
                <a:latin typeface="Calibri" pitchFamily="34" charset="0"/>
                <a:ea typeface="Calibri" pitchFamily="34" charset="-122"/>
                <a:cs typeface="Calibri" pitchFamily="34" charset="-120"/>
              </a:rPr>
              <a:t>No answer for unusual questions</a:t>
            </a:r>
            <a:endParaRPr lang="en-US" sz="1300" dirty="0"/>
          </a:p>
        </p:txBody>
      </p:sp>
      <p:sp>
        <p:nvSpPr>
          <p:cNvPr id="14" name="Text 10"/>
          <p:cNvSpPr txBox="1"/>
          <p:nvPr/>
        </p:nvSpPr>
        <p:spPr>
          <a:xfrm>
            <a:off x="6419088" y="2331720"/>
            <a:ext cx="4992624" cy="640080"/>
          </a:xfrm>
          <a:prstGeom prst="rect">
            <a:avLst/>
          </a:prstGeom>
          <a:noFill/>
          <a:ln/>
        </p:spPr>
        <p:txBody>
          <a:bodyPr wrap="square" lIns="0" tIns="0" rIns="0" bIns="0" rtlCol="0" anchor="t"/>
          <a:lstStyle/>
          <a:p>
            <a:pPr marL="0" indent="0">
              <a:buNone/>
            </a:pPr>
            <a:r>
              <a:rPr lang="en-US" sz="1100" b="1" dirty="0">
                <a:solidFill>
                  <a:srgbClr val="B3261E"/>
                </a:solidFill>
                <a:latin typeface="Calibri" pitchFamily="34" charset="0"/>
                <a:ea typeface="Calibri" pitchFamily="34" charset="-122"/>
                <a:cs typeface="Calibri" pitchFamily="34" charset="-120"/>
              </a:rPr>
              <a:t>Problem: </a:t>
            </a:r>
            <a:r>
              <a:rPr lang="en-US" sz="1100" dirty="0">
                <a:solidFill>
                  <a:srgbClr val="13293D"/>
                </a:solidFill>
                <a:latin typeface="Calibri" pitchFamily="34" charset="0"/>
                <a:ea typeface="Calibri" pitchFamily="34" charset="-122"/>
                <a:cs typeface="Calibri" pitchFamily="34" charset="-120"/>
              </a:rPr>
              <a:t>Anything outside the training distribution had nowhere to go except a generic "I don't understand".</a:t>
            </a:r>
            <a:endParaRPr lang="en-US" sz="1100" dirty="0"/>
          </a:p>
        </p:txBody>
      </p:sp>
      <p:sp>
        <p:nvSpPr>
          <p:cNvPr id="15" name="Text 11"/>
          <p:cNvSpPr txBox="1"/>
          <p:nvPr/>
        </p:nvSpPr>
        <p:spPr>
          <a:xfrm>
            <a:off x="6419088" y="2971800"/>
            <a:ext cx="4992624" cy="685800"/>
          </a:xfrm>
          <a:prstGeom prst="rect">
            <a:avLst/>
          </a:prstGeom>
          <a:noFill/>
          <a:ln/>
        </p:spPr>
        <p:txBody>
          <a:bodyPr wrap="square" lIns="0" tIns="0" rIns="0" bIns="0" rtlCol="0" anchor="t"/>
          <a:lstStyle/>
          <a:p>
            <a:pPr marL="0" indent="0">
              <a:buNone/>
            </a:pPr>
            <a:r>
              <a:rPr lang="en-US" sz="1100" b="1" dirty="0">
                <a:solidFill>
                  <a:srgbClr val="00A896"/>
                </a:solidFill>
                <a:latin typeface="Calibri" pitchFamily="34" charset="0"/>
                <a:ea typeface="Calibri" pitchFamily="34" charset="-122"/>
                <a:cs typeface="Calibri" pitchFamily="34" charset="-120"/>
              </a:rPr>
              <a:t>Fix: </a:t>
            </a:r>
            <a:r>
              <a:rPr lang="en-US" sz="1100" dirty="0">
                <a:solidFill>
                  <a:srgbClr val="13293D"/>
                </a:solidFill>
                <a:latin typeface="Calibri" pitchFamily="34" charset="0"/>
                <a:ea typeface="Calibri" pitchFamily="34" charset="-122"/>
                <a:cs typeface="Calibri" pitchFamily="34" charset="-120"/>
              </a:rPr>
              <a:t>Added a Groq LLM fallback that kicks in below a 0.35 confidence threshold, so the bot still gives a helpful answer instead of failing silently.</a:t>
            </a:r>
            <a:endParaRPr lang="en-US" sz="1100" dirty="0"/>
          </a:p>
        </p:txBody>
      </p:sp>
      <p:sp>
        <p:nvSpPr>
          <p:cNvPr id="16" name="Shape 12"/>
          <p:cNvSpPr/>
          <p:nvPr/>
        </p:nvSpPr>
        <p:spPr>
          <a:xfrm>
            <a:off x="548640" y="3959352"/>
            <a:ext cx="5394960" cy="2148840"/>
          </a:xfrm>
          <a:prstGeom prst="roundRect">
            <a:avLst>
              <a:gd name="adj" fmla="val 3404"/>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17" name="Shape 13"/>
          <p:cNvSpPr/>
          <p:nvPr/>
        </p:nvSpPr>
        <p:spPr>
          <a:xfrm>
            <a:off x="749808" y="4142232"/>
            <a:ext cx="502920" cy="502920"/>
          </a:xfrm>
          <a:prstGeom prst="ellipse">
            <a:avLst/>
          </a:prstGeom>
          <a:solidFill>
            <a:srgbClr val="028090"/>
          </a:solidFill>
          <a:ln/>
        </p:spPr>
      </p:sp>
      <p:pic>
        <p:nvPicPr>
          <p:cNvPr id="18" name="Image 2" descr="icons/tools.png"/>
          <p:cNvPicPr>
            <a:picLocks noChangeAspect="1"/>
          </p:cNvPicPr>
          <p:nvPr/>
        </p:nvPicPr>
        <p:blipFill>
          <a:blip r:embed="rId5"/>
          <a:stretch>
            <a:fillRect/>
          </a:stretch>
        </p:blipFill>
        <p:spPr>
          <a:xfrm>
            <a:off x="805129" y="4197553"/>
            <a:ext cx="392278" cy="392278"/>
          </a:xfrm>
          <a:prstGeom prst="rect">
            <a:avLst/>
          </a:prstGeom>
        </p:spPr>
      </p:pic>
      <p:sp>
        <p:nvSpPr>
          <p:cNvPr id="19" name="Text 14"/>
          <p:cNvSpPr txBox="1"/>
          <p:nvPr/>
        </p:nvSpPr>
        <p:spPr>
          <a:xfrm>
            <a:off x="1417320" y="4123944"/>
            <a:ext cx="4343400" cy="502920"/>
          </a:xfrm>
          <a:prstGeom prst="rect">
            <a:avLst/>
          </a:prstGeom>
          <a:noFill/>
          <a:ln/>
        </p:spPr>
        <p:txBody>
          <a:bodyPr wrap="square" lIns="0" tIns="0" rIns="0" bIns="0" rtlCol="0" anchor="t"/>
          <a:lstStyle/>
          <a:p>
            <a:pPr marL="0" indent="0">
              <a:buNone/>
            </a:pPr>
            <a:r>
              <a:rPr lang="en-US" sz="1300" b="1" dirty="0">
                <a:solidFill>
                  <a:srgbClr val="13293D"/>
                </a:solidFill>
                <a:latin typeface="Calibri" pitchFamily="34" charset="0"/>
                <a:ea typeface="Calibri" pitchFamily="34" charset="-122"/>
                <a:cs typeface="Calibri" pitchFamily="34" charset="-120"/>
              </a:rPr>
              <a:t>Intent misrouting</a:t>
            </a:r>
            <a:endParaRPr lang="en-US" sz="1300" dirty="0"/>
          </a:p>
        </p:txBody>
      </p:sp>
      <p:sp>
        <p:nvSpPr>
          <p:cNvPr id="20" name="Text 15"/>
          <p:cNvSpPr txBox="1"/>
          <p:nvPr/>
        </p:nvSpPr>
        <p:spPr>
          <a:xfrm>
            <a:off x="749808" y="4736592"/>
            <a:ext cx="4992624" cy="640080"/>
          </a:xfrm>
          <a:prstGeom prst="rect">
            <a:avLst/>
          </a:prstGeom>
          <a:noFill/>
          <a:ln/>
        </p:spPr>
        <p:txBody>
          <a:bodyPr wrap="square" lIns="0" tIns="0" rIns="0" bIns="0" rtlCol="0" anchor="t"/>
          <a:lstStyle/>
          <a:p>
            <a:pPr marL="0" indent="0">
              <a:buNone/>
            </a:pPr>
            <a:r>
              <a:rPr lang="en-US" sz="1100" b="1" dirty="0">
                <a:solidFill>
                  <a:srgbClr val="B3261E"/>
                </a:solidFill>
                <a:latin typeface="Calibri" pitchFamily="34" charset="0"/>
                <a:ea typeface="Calibri" pitchFamily="34" charset="-122"/>
                <a:cs typeface="Calibri" pitchFamily="34" charset="-120"/>
              </a:rPr>
              <a:t>Problem: </a:t>
            </a:r>
            <a:r>
              <a:rPr lang="en-US" sz="1100" dirty="0">
                <a:solidFill>
                  <a:srgbClr val="13293D"/>
                </a:solidFill>
                <a:latin typeface="Calibri" pitchFamily="34" charset="0"/>
                <a:ea typeface="Calibri" pitchFamily="34" charset="-122"/>
                <a:cs typeface="Calibri" pitchFamily="34" charset="-120"/>
              </a:rPr>
              <a:t>Similar-sounding questions across intents (e.g. fee vs. scholarship) were occasionally classified into the wrong bucket.</a:t>
            </a:r>
            <a:endParaRPr lang="en-US" sz="1100" dirty="0"/>
          </a:p>
        </p:txBody>
      </p:sp>
      <p:sp>
        <p:nvSpPr>
          <p:cNvPr id="21" name="Text 16"/>
          <p:cNvSpPr txBox="1"/>
          <p:nvPr/>
        </p:nvSpPr>
        <p:spPr>
          <a:xfrm>
            <a:off x="749808" y="5376672"/>
            <a:ext cx="4992624" cy="685800"/>
          </a:xfrm>
          <a:prstGeom prst="rect">
            <a:avLst/>
          </a:prstGeom>
          <a:noFill/>
          <a:ln/>
        </p:spPr>
        <p:txBody>
          <a:bodyPr wrap="square" lIns="0" tIns="0" rIns="0" bIns="0" rtlCol="0" anchor="t"/>
          <a:lstStyle/>
          <a:p>
            <a:pPr marL="0" indent="0">
              <a:buNone/>
            </a:pPr>
            <a:r>
              <a:rPr lang="en-US" sz="1100" b="1" dirty="0">
                <a:solidFill>
                  <a:srgbClr val="00A896"/>
                </a:solidFill>
                <a:latin typeface="Calibri" pitchFamily="34" charset="0"/>
                <a:ea typeface="Calibri" pitchFamily="34" charset="-122"/>
                <a:cs typeface="Calibri" pitchFamily="34" charset="-120"/>
              </a:rPr>
              <a:t>Fix: </a:t>
            </a:r>
            <a:r>
              <a:rPr lang="en-US" sz="1100" dirty="0">
                <a:solidFill>
                  <a:srgbClr val="13293D"/>
                </a:solidFill>
                <a:latin typeface="Calibri" pitchFamily="34" charset="0"/>
                <a:ea typeface="Calibri" pitchFamily="34" charset="-122"/>
                <a:cs typeface="Calibri" pitchFamily="34" charset="-120"/>
              </a:rPr>
              <a:t>Diagnosed misrouting cases, expanded and rebalanced training examples per intent, and added in-intent cosine retrieval so the closest verified answer wins even after classification.</a:t>
            </a:r>
            <a:endParaRPr lang="en-US" sz="1100" dirty="0"/>
          </a:p>
        </p:txBody>
      </p:sp>
      <p:sp>
        <p:nvSpPr>
          <p:cNvPr id="22" name="Shape 17"/>
          <p:cNvSpPr/>
          <p:nvPr/>
        </p:nvSpPr>
        <p:spPr>
          <a:xfrm>
            <a:off x="6217920" y="3959352"/>
            <a:ext cx="5394960" cy="2148840"/>
          </a:xfrm>
          <a:prstGeom prst="roundRect">
            <a:avLst>
              <a:gd name="adj" fmla="val 3404"/>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23" name="Shape 18"/>
          <p:cNvSpPr/>
          <p:nvPr/>
        </p:nvSpPr>
        <p:spPr>
          <a:xfrm>
            <a:off x="6419088" y="4142232"/>
            <a:ext cx="502920" cy="502920"/>
          </a:xfrm>
          <a:prstGeom prst="ellipse">
            <a:avLst/>
          </a:prstGeom>
          <a:solidFill>
            <a:srgbClr val="028090"/>
          </a:solidFill>
          <a:ln/>
        </p:spPr>
      </p:sp>
      <p:pic>
        <p:nvPicPr>
          <p:cNvPr id="24" name="Image 3" descr="icons/flask.png"/>
          <p:cNvPicPr>
            <a:picLocks noChangeAspect="1"/>
          </p:cNvPicPr>
          <p:nvPr/>
        </p:nvPicPr>
        <p:blipFill>
          <a:blip r:embed="rId6"/>
          <a:stretch>
            <a:fillRect/>
          </a:stretch>
        </p:blipFill>
        <p:spPr>
          <a:xfrm>
            <a:off x="6474409" y="4197553"/>
            <a:ext cx="392278" cy="392278"/>
          </a:xfrm>
          <a:prstGeom prst="rect">
            <a:avLst/>
          </a:prstGeom>
        </p:spPr>
      </p:pic>
      <p:sp>
        <p:nvSpPr>
          <p:cNvPr id="25" name="Text 19"/>
          <p:cNvSpPr txBox="1"/>
          <p:nvPr/>
        </p:nvSpPr>
        <p:spPr>
          <a:xfrm>
            <a:off x="7086600" y="4123944"/>
            <a:ext cx="4343400" cy="502920"/>
          </a:xfrm>
          <a:prstGeom prst="rect">
            <a:avLst/>
          </a:prstGeom>
          <a:noFill/>
          <a:ln/>
        </p:spPr>
        <p:txBody>
          <a:bodyPr wrap="square" lIns="0" tIns="0" rIns="0" bIns="0" rtlCol="0" anchor="t"/>
          <a:lstStyle/>
          <a:p>
            <a:pPr marL="0" indent="0">
              <a:buNone/>
            </a:pPr>
            <a:r>
              <a:rPr lang="en-US" sz="1300" b="1" dirty="0">
                <a:solidFill>
                  <a:srgbClr val="13293D"/>
                </a:solidFill>
                <a:latin typeface="Calibri" pitchFamily="34" charset="0"/>
                <a:ea typeface="Calibri" pitchFamily="34" charset="-122"/>
                <a:cs typeface="Calibri" pitchFamily="34" charset="-120"/>
              </a:rPr>
              <a:t>Vocabulary leakage in evaluation</a:t>
            </a:r>
            <a:endParaRPr lang="en-US" sz="1300" dirty="0"/>
          </a:p>
        </p:txBody>
      </p:sp>
      <p:sp>
        <p:nvSpPr>
          <p:cNvPr id="26" name="Text 20"/>
          <p:cNvSpPr txBox="1"/>
          <p:nvPr/>
        </p:nvSpPr>
        <p:spPr>
          <a:xfrm>
            <a:off x="6419088" y="4736592"/>
            <a:ext cx="4992624" cy="640080"/>
          </a:xfrm>
          <a:prstGeom prst="rect">
            <a:avLst/>
          </a:prstGeom>
          <a:noFill/>
          <a:ln/>
        </p:spPr>
        <p:txBody>
          <a:bodyPr wrap="square" lIns="0" tIns="0" rIns="0" bIns="0" rtlCol="0" anchor="t"/>
          <a:lstStyle/>
          <a:p>
            <a:pPr marL="0" indent="0">
              <a:buNone/>
            </a:pPr>
            <a:r>
              <a:rPr lang="en-US" sz="1100" b="1" dirty="0">
                <a:solidFill>
                  <a:srgbClr val="B3261E"/>
                </a:solidFill>
                <a:latin typeface="Calibri" pitchFamily="34" charset="0"/>
                <a:ea typeface="Calibri" pitchFamily="34" charset="-122"/>
                <a:cs typeface="Calibri" pitchFamily="34" charset="-120"/>
              </a:rPr>
              <a:t>Problem: </a:t>
            </a:r>
            <a:r>
              <a:rPr lang="en-US" sz="1100" dirty="0">
                <a:solidFill>
                  <a:srgbClr val="13293D"/>
                </a:solidFill>
                <a:latin typeface="Calibri" pitchFamily="34" charset="0"/>
                <a:ea typeface="Calibri" pitchFamily="34" charset="-122"/>
                <a:cs typeface="Calibri" pitchFamily="34" charset="-120"/>
              </a:rPr>
              <a:t>Cross-validation was optimistic because the vectorizer's vocabulary was fit before splitting the data.</a:t>
            </a:r>
            <a:endParaRPr lang="en-US" sz="1100" dirty="0"/>
          </a:p>
        </p:txBody>
      </p:sp>
      <p:sp>
        <p:nvSpPr>
          <p:cNvPr id="27" name="Text 21"/>
          <p:cNvSpPr txBox="1"/>
          <p:nvPr/>
        </p:nvSpPr>
        <p:spPr>
          <a:xfrm>
            <a:off x="6419088" y="5376672"/>
            <a:ext cx="4992624" cy="685800"/>
          </a:xfrm>
          <a:prstGeom prst="rect">
            <a:avLst/>
          </a:prstGeom>
          <a:noFill/>
          <a:ln/>
        </p:spPr>
        <p:txBody>
          <a:bodyPr wrap="square" lIns="0" tIns="0" rIns="0" bIns="0" rtlCol="0" anchor="t"/>
          <a:lstStyle/>
          <a:p>
            <a:pPr marL="0" indent="0">
              <a:buNone/>
            </a:pPr>
            <a:r>
              <a:rPr lang="en-US" sz="1100" b="1" dirty="0">
                <a:solidFill>
                  <a:srgbClr val="00A896"/>
                </a:solidFill>
                <a:latin typeface="Calibri" pitchFamily="34" charset="0"/>
                <a:ea typeface="Calibri" pitchFamily="34" charset="-122"/>
                <a:cs typeface="Calibri" pitchFamily="34" charset="-120"/>
              </a:rPr>
              <a:t>Fix: </a:t>
            </a:r>
            <a:r>
              <a:rPr lang="en-US" sz="1100" dirty="0">
                <a:solidFill>
                  <a:srgbClr val="13293D"/>
                </a:solidFill>
                <a:latin typeface="Calibri" pitchFamily="34" charset="0"/>
                <a:ea typeface="Calibri" pitchFamily="34" charset="-122"/>
                <a:cs typeface="Calibri" pitchFamily="34" charset="-120"/>
              </a:rPr>
              <a:t>Rebuilt the validation flow so TF-IDF is fit only inside each training fold — vocabulary leakage fixed, evaluation now trustworthy.</a:t>
            </a:r>
            <a:endParaRPr lang="en-US" sz="1100" dirty="0"/>
          </a:p>
        </p:txBody>
      </p:sp>
      <p:sp>
        <p:nvSpPr>
          <p:cNvPr id="28" name="Text 2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C7A85"/>
                </a:solidFill>
                <a:latin typeface="Calibri" pitchFamily="34" charset="0"/>
                <a:ea typeface="Calibri" pitchFamily="34" charset="-122"/>
                <a:cs typeface="Calibri" pitchFamily="34" charset="-120"/>
              </a:rPr>
              <a:t>09</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22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22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22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22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22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22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wipe(left)">
                                      <p:cBhvr>
                                        <p:cTn id="107" dur="22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22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220"/>
                                        <p:tgtEl>
                                          <p:spTgt spid="24"/>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22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220"/>
                                        <p:tgtEl>
                                          <p:spTgt spid="26"/>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wipe(left)">
                                      <p:cBhvr>
                                        <p:cTn id="132" dur="220"/>
                                        <p:tgtEl>
                                          <p:spTgt spid="27"/>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22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animBg="1"/>
      <p:bldP spid="12" grpId="0"/>
      <p:bldP spid="13" grpId="0" animBg="1"/>
      <p:bldP spid="14" grpId="0" animBg="1"/>
      <p:bldP spid="15" grpId="0" animBg="1"/>
      <p:bldP spid="16" grpId="0" animBg="1"/>
      <p:bldP spid="17" grpId="0" animBg="1"/>
      <p:bldP spid="18" grpId="0"/>
      <p:bldP spid="19" grpId="0" animBg="1"/>
      <p:bldP spid="20" grpId="0" animBg="1"/>
      <p:bldP spid="21" grpId="0" animBg="1"/>
      <p:bldP spid="22" grpId="0" animBg="1"/>
      <p:bldP spid="23" grpId="0" animBg="1"/>
      <p:bldP spid="24" grpId="0"/>
      <p:bldP spid="25" grpId="0" animBg="1"/>
      <p:bldP spid="26"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TECH STACK</a:t>
            </a:r>
            <a:endParaRPr lang="en-US" sz="1300" dirty="0"/>
          </a:p>
        </p:txBody>
      </p:sp>
      <p:sp>
        <p:nvSpPr>
          <p:cNvPr id="3" name="Text 1"/>
          <p:cNvSpPr txBox="1"/>
          <p:nvPr/>
        </p:nvSpPr>
        <p:spPr>
          <a:xfrm>
            <a:off x="548640" y="685800"/>
            <a:ext cx="7315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Built With</a:t>
            </a:r>
            <a:endParaRPr lang="en-US" sz="3000" dirty="0"/>
          </a:p>
        </p:txBody>
      </p:sp>
      <p:sp>
        <p:nvSpPr>
          <p:cNvPr id="4" name="Shape 2"/>
          <p:cNvSpPr/>
          <p:nvPr/>
        </p:nvSpPr>
        <p:spPr>
          <a:xfrm>
            <a:off x="548640" y="1508760"/>
            <a:ext cx="3538728" cy="4297680"/>
          </a:xfrm>
          <a:prstGeom prst="roundRect">
            <a:avLst>
              <a:gd name="adj" fmla="val 2067"/>
            </a:avLst>
          </a:prstGeom>
          <a:solidFill>
            <a:srgbClr val="10395A"/>
          </a:solidFill>
          <a:ln w="12700">
            <a:solidFill>
              <a:srgbClr val="028090"/>
            </a:solidFill>
            <a:prstDash val="solid"/>
          </a:ln>
        </p:spPr>
      </p:sp>
      <p:sp>
        <p:nvSpPr>
          <p:cNvPr id="5" name="Shape 3"/>
          <p:cNvSpPr/>
          <p:nvPr/>
        </p:nvSpPr>
        <p:spPr>
          <a:xfrm>
            <a:off x="822960" y="1783080"/>
            <a:ext cx="594360" cy="594360"/>
          </a:xfrm>
          <a:prstGeom prst="ellipse">
            <a:avLst/>
          </a:prstGeom>
          <a:solidFill>
            <a:srgbClr val="028090"/>
          </a:solidFill>
          <a:ln/>
        </p:spPr>
      </p:sp>
      <p:pic>
        <p:nvPicPr>
          <p:cNvPr id="6" name="Image 0" descr="icons/database.png"/>
          <p:cNvPicPr>
            <a:picLocks noChangeAspect="1"/>
          </p:cNvPicPr>
          <p:nvPr/>
        </p:nvPicPr>
        <p:blipFill>
          <a:blip r:embed="rId3"/>
          <a:stretch>
            <a:fillRect/>
          </a:stretch>
        </p:blipFill>
        <p:spPr>
          <a:xfrm>
            <a:off x="888340" y="1848460"/>
            <a:ext cx="463601" cy="463601"/>
          </a:xfrm>
          <a:prstGeom prst="rect">
            <a:avLst/>
          </a:prstGeom>
        </p:spPr>
      </p:pic>
      <p:sp>
        <p:nvSpPr>
          <p:cNvPr id="7" name="Text 4"/>
          <p:cNvSpPr txBox="1"/>
          <p:nvPr/>
        </p:nvSpPr>
        <p:spPr>
          <a:xfrm>
            <a:off x="822960" y="2514600"/>
            <a:ext cx="2990088" cy="365760"/>
          </a:xfrm>
          <a:prstGeom prst="rect">
            <a:avLst/>
          </a:prstGeom>
          <a:noFill/>
          <a:ln/>
        </p:spPr>
        <p:txBody>
          <a:bodyPr wrap="square" lIns="0" tIns="0" rIns="0" bIns="0"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Data &amp; ML</a:t>
            </a:r>
            <a:endParaRPr lang="en-US" sz="1500" dirty="0"/>
          </a:p>
        </p:txBody>
      </p:sp>
      <p:sp>
        <p:nvSpPr>
          <p:cNvPr id="8" name="Text 5"/>
          <p:cNvSpPr txBox="1"/>
          <p:nvPr/>
        </p:nvSpPr>
        <p:spPr>
          <a:xfrm>
            <a:off x="822960" y="2971800"/>
            <a:ext cx="2990088" cy="265176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Python</a:t>
            </a:r>
            <a:endParaRPr lang="en-US" sz="1150" dirty="0"/>
          </a:p>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Pandas / NumPy</a:t>
            </a:r>
            <a:endParaRPr lang="en-US" sz="1150" dirty="0"/>
          </a:p>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NLTK</a:t>
            </a:r>
            <a:endParaRPr lang="en-US" sz="1150" dirty="0"/>
          </a:p>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Scikit-learn (TF-IDF + Logistic Regression)</a:t>
            </a:r>
            <a:endParaRPr lang="en-US" sz="1150" dirty="0"/>
          </a:p>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Joblib (.pkl artifacts)</a:t>
            </a:r>
            <a:endParaRPr lang="en-US" sz="1150" dirty="0"/>
          </a:p>
        </p:txBody>
      </p:sp>
      <p:sp>
        <p:nvSpPr>
          <p:cNvPr id="9" name="Shape 6"/>
          <p:cNvSpPr/>
          <p:nvPr/>
        </p:nvSpPr>
        <p:spPr>
          <a:xfrm>
            <a:off x="4343400" y="1508760"/>
            <a:ext cx="3538728" cy="4297680"/>
          </a:xfrm>
          <a:prstGeom prst="roundRect">
            <a:avLst>
              <a:gd name="adj" fmla="val 2067"/>
            </a:avLst>
          </a:prstGeom>
          <a:solidFill>
            <a:srgbClr val="10395A"/>
          </a:solidFill>
          <a:ln w="12700">
            <a:solidFill>
              <a:srgbClr val="028090"/>
            </a:solidFill>
            <a:prstDash val="solid"/>
          </a:ln>
        </p:spPr>
      </p:sp>
      <p:sp>
        <p:nvSpPr>
          <p:cNvPr id="10" name="Shape 7"/>
          <p:cNvSpPr/>
          <p:nvPr/>
        </p:nvSpPr>
        <p:spPr>
          <a:xfrm>
            <a:off x="4617720" y="1783080"/>
            <a:ext cx="594360" cy="594360"/>
          </a:xfrm>
          <a:prstGeom prst="ellipse">
            <a:avLst/>
          </a:prstGeom>
          <a:solidFill>
            <a:srgbClr val="028090"/>
          </a:solidFill>
          <a:ln/>
        </p:spPr>
      </p:sp>
      <p:pic>
        <p:nvPicPr>
          <p:cNvPr id="11" name="Image 1" descr="icons/server.png"/>
          <p:cNvPicPr>
            <a:picLocks noChangeAspect="1"/>
          </p:cNvPicPr>
          <p:nvPr/>
        </p:nvPicPr>
        <p:blipFill>
          <a:blip r:embed="rId4"/>
          <a:stretch>
            <a:fillRect/>
          </a:stretch>
        </p:blipFill>
        <p:spPr>
          <a:xfrm>
            <a:off x="4683100" y="1848460"/>
            <a:ext cx="463601" cy="463601"/>
          </a:xfrm>
          <a:prstGeom prst="rect">
            <a:avLst/>
          </a:prstGeom>
        </p:spPr>
      </p:pic>
      <p:sp>
        <p:nvSpPr>
          <p:cNvPr id="12" name="Text 8"/>
          <p:cNvSpPr txBox="1"/>
          <p:nvPr/>
        </p:nvSpPr>
        <p:spPr>
          <a:xfrm>
            <a:off x="4617720" y="2514600"/>
            <a:ext cx="2990088" cy="365760"/>
          </a:xfrm>
          <a:prstGeom prst="rect">
            <a:avLst/>
          </a:prstGeom>
          <a:noFill/>
          <a:ln/>
        </p:spPr>
        <p:txBody>
          <a:bodyPr wrap="square" lIns="0" tIns="0" rIns="0" bIns="0"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Backend</a:t>
            </a:r>
            <a:endParaRPr lang="en-US" sz="1500" dirty="0"/>
          </a:p>
        </p:txBody>
      </p:sp>
      <p:sp>
        <p:nvSpPr>
          <p:cNvPr id="13" name="Text 9"/>
          <p:cNvSpPr txBox="1"/>
          <p:nvPr/>
        </p:nvSpPr>
        <p:spPr>
          <a:xfrm>
            <a:off x="4617720" y="2971800"/>
            <a:ext cx="2990088" cy="265176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Flask + Flask-CORS</a:t>
            </a:r>
            <a:endParaRPr lang="en-US" sz="1150" dirty="0"/>
          </a:p>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python-dotenv</a:t>
            </a:r>
            <a:endParaRPr lang="en-US" sz="1150" dirty="0"/>
          </a:p>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Groq API (LLM fallback)</a:t>
            </a:r>
            <a:endParaRPr lang="en-US" sz="1150" dirty="0"/>
          </a:p>
        </p:txBody>
      </p:sp>
      <p:sp>
        <p:nvSpPr>
          <p:cNvPr id="14" name="Shape 10"/>
          <p:cNvSpPr/>
          <p:nvPr/>
        </p:nvSpPr>
        <p:spPr>
          <a:xfrm>
            <a:off x="8138160" y="1508760"/>
            <a:ext cx="3538728" cy="4297680"/>
          </a:xfrm>
          <a:prstGeom prst="roundRect">
            <a:avLst>
              <a:gd name="adj" fmla="val 2067"/>
            </a:avLst>
          </a:prstGeom>
          <a:solidFill>
            <a:srgbClr val="10395A"/>
          </a:solidFill>
          <a:ln w="12700">
            <a:solidFill>
              <a:srgbClr val="028090"/>
            </a:solidFill>
            <a:prstDash val="solid"/>
          </a:ln>
        </p:spPr>
      </p:sp>
      <p:sp>
        <p:nvSpPr>
          <p:cNvPr id="15" name="Shape 11"/>
          <p:cNvSpPr/>
          <p:nvPr/>
        </p:nvSpPr>
        <p:spPr>
          <a:xfrm>
            <a:off x="8412480" y="1783080"/>
            <a:ext cx="594360" cy="594360"/>
          </a:xfrm>
          <a:prstGeom prst="ellipse">
            <a:avLst/>
          </a:prstGeom>
          <a:solidFill>
            <a:srgbClr val="028090"/>
          </a:solidFill>
          <a:ln/>
        </p:spPr>
      </p:sp>
      <p:pic>
        <p:nvPicPr>
          <p:cNvPr id="16" name="Image 2" descr="icons/desktop.png"/>
          <p:cNvPicPr>
            <a:picLocks noChangeAspect="1"/>
          </p:cNvPicPr>
          <p:nvPr/>
        </p:nvPicPr>
        <p:blipFill>
          <a:blip r:embed="rId5"/>
          <a:stretch>
            <a:fillRect/>
          </a:stretch>
        </p:blipFill>
        <p:spPr>
          <a:xfrm>
            <a:off x="8477860" y="1848460"/>
            <a:ext cx="463601" cy="463601"/>
          </a:xfrm>
          <a:prstGeom prst="rect">
            <a:avLst/>
          </a:prstGeom>
        </p:spPr>
      </p:pic>
      <p:sp>
        <p:nvSpPr>
          <p:cNvPr id="17" name="Text 12"/>
          <p:cNvSpPr txBox="1"/>
          <p:nvPr/>
        </p:nvSpPr>
        <p:spPr>
          <a:xfrm>
            <a:off x="8412480" y="2514600"/>
            <a:ext cx="2990088" cy="365760"/>
          </a:xfrm>
          <a:prstGeom prst="rect">
            <a:avLst/>
          </a:prstGeom>
          <a:noFill/>
          <a:ln/>
        </p:spPr>
        <p:txBody>
          <a:bodyPr wrap="square" lIns="0" tIns="0" rIns="0" bIns="0"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Frontend</a:t>
            </a:r>
            <a:endParaRPr lang="en-US" sz="1500" dirty="0"/>
          </a:p>
        </p:txBody>
      </p:sp>
      <p:sp>
        <p:nvSpPr>
          <p:cNvPr id="18" name="Text 13"/>
          <p:cNvSpPr txBox="1"/>
          <p:nvPr/>
        </p:nvSpPr>
        <p:spPr>
          <a:xfrm>
            <a:off x="8412480" y="2971800"/>
            <a:ext cx="2990088" cy="265176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React 19 + TypeScript</a:t>
            </a:r>
            <a:endParaRPr lang="en-US" sz="1150" dirty="0"/>
          </a:p>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Vite</a:t>
            </a:r>
            <a:endParaRPr lang="en-US" sz="1150" dirty="0"/>
          </a:p>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Tailwind CSS</a:t>
            </a:r>
            <a:endParaRPr lang="en-US" sz="1150" dirty="0"/>
          </a:p>
          <a:p>
            <a:pPr marL="342900" indent="-342900">
              <a:spcAft>
                <a:spcPts val="1000"/>
              </a:spcAft>
              <a:buSzPct val="100000"/>
              <a:buChar char="▪"/>
            </a:pPr>
            <a:r>
              <a:rPr lang="en-US" sz="1150" dirty="0">
                <a:solidFill>
                  <a:srgbClr val="E5F6F5"/>
                </a:solidFill>
                <a:latin typeface="Calibri" pitchFamily="34" charset="0"/>
                <a:ea typeface="Calibri" pitchFamily="34" charset="-122"/>
                <a:cs typeface="Calibri" pitchFamily="34" charset="-120"/>
              </a:rPr>
              <a:t>react-markdown</a:t>
            </a:r>
            <a:endParaRPr lang="en-US" sz="1150" dirty="0"/>
          </a:p>
        </p:txBody>
      </p:sp>
      <p:sp>
        <p:nvSpPr>
          <p:cNvPr id="19" name="Text 14"/>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6E93A8"/>
                </a:solidFill>
                <a:latin typeface="Calibri" pitchFamily="34" charset="0"/>
                <a:ea typeface="Calibri" pitchFamily="34" charset="-122"/>
                <a:cs typeface="Calibri" pitchFamily="34" charset="-120"/>
              </a:rPr>
              <a:t>10</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22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22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22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2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p:bldP spid="12" grpId="0" animBg="1"/>
      <p:bldP spid="13" grpId="0" animBg="1"/>
      <p:bldP spid="14" grpId="0" animBg="1"/>
      <p:bldP spid="15" grpId="0" animBg="1"/>
      <p:bldP spid="16" grpId="0"/>
      <p:bldP spid="17" grpId="0" animBg="1"/>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RESULTS</a:t>
            </a:r>
            <a:endParaRPr lang="en-US" sz="1300" dirty="0"/>
          </a:p>
        </p:txBody>
      </p:sp>
      <p:sp>
        <p:nvSpPr>
          <p:cNvPr id="3" name="Text 1"/>
          <p:cNvSpPr txBox="1"/>
          <p:nvPr/>
        </p:nvSpPr>
        <p:spPr>
          <a:xfrm>
            <a:off x="548640" y="685800"/>
            <a:ext cx="8229600" cy="548640"/>
          </a:xfrm>
          <a:prstGeom prst="rect">
            <a:avLst/>
          </a:prstGeom>
          <a:noFill/>
          <a:ln/>
        </p:spPr>
        <p:txBody>
          <a:bodyPr wrap="square" lIns="0" tIns="0" rIns="0" bIns="0"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Expected Outcome</a:t>
            </a:r>
            <a:endParaRPr lang="en-US" sz="3000" dirty="0"/>
          </a:p>
        </p:txBody>
      </p:sp>
      <p:sp>
        <p:nvSpPr>
          <p:cNvPr id="4" name="Shape 2"/>
          <p:cNvSpPr/>
          <p:nvPr/>
        </p:nvSpPr>
        <p:spPr>
          <a:xfrm>
            <a:off x="548640" y="1645920"/>
            <a:ext cx="2606040" cy="3017520"/>
          </a:xfrm>
          <a:prstGeom prst="roundRect">
            <a:avLst>
              <a:gd name="adj" fmla="val 2807"/>
            </a:avLst>
          </a:prstGeom>
          <a:solidFill>
            <a:srgbClr val="028090"/>
          </a:solidFill>
          <a:ln/>
        </p:spPr>
      </p:sp>
      <p:sp>
        <p:nvSpPr>
          <p:cNvPr id="5" name="Shape 3"/>
          <p:cNvSpPr/>
          <p:nvPr/>
        </p:nvSpPr>
        <p:spPr>
          <a:xfrm>
            <a:off x="1531620" y="1965960"/>
            <a:ext cx="640080" cy="640080"/>
          </a:xfrm>
          <a:prstGeom prst="ellipse">
            <a:avLst/>
          </a:prstGeom>
          <a:solidFill>
            <a:srgbClr val="0B2545"/>
          </a:solidFill>
          <a:ln/>
        </p:spPr>
      </p:sp>
      <p:pic>
        <p:nvPicPr>
          <p:cNvPr id="6" name="Image 0" descr="icons/bolt.png"/>
          <p:cNvPicPr>
            <a:picLocks noChangeAspect="1"/>
          </p:cNvPicPr>
          <p:nvPr/>
        </p:nvPicPr>
        <p:blipFill>
          <a:blip r:embed="rId3"/>
          <a:stretch>
            <a:fillRect/>
          </a:stretch>
        </p:blipFill>
        <p:spPr>
          <a:xfrm>
            <a:off x="1602029" y="2036369"/>
            <a:ext cx="499262" cy="499262"/>
          </a:xfrm>
          <a:prstGeom prst="rect">
            <a:avLst/>
          </a:prstGeom>
        </p:spPr>
      </p:pic>
      <p:sp>
        <p:nvSpPr>
          <p:cNvPr id="7" name="Text 4"/>
          <p:cNvSpPr txBox="1"/>
          <p:nvPr/>
        </p:nvSpPr>
        <p:spPr>
          <a:xfrm>
            <a:off x="685800" y="2834640"/>
            <a:ext cx="23317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Instant</a:t>
            </a:r>
            <a:endParaRPr lang="en-US" sz="2200" dirty="0"/>
          </a:p>
        </p:txBody>
      </p:sp>
      <p:sp>
        <p:nvSpPr>
          <p:cNvPr id="8" name="Text 5"/>
          <p:cNvSpPr txBox="1"/>
          <p:nvPr/>
        </p:nvSpPr>
        <p:spPr>
          <a:xfrm>
            <a:off x="731520" y="3383280"/>
            <a:ext cx="2240280" cy="1097280"/>
          </a:xfrm>
          <a:prstGeom prst="rect">
            <a:avLst/>
          </a:prstGeom>
          <a:noFill/>
          <a:ln/>
        </p:spPr>
        <p:txBody>
          <a:bodyPr wrap="square" lIns="0" tIns="0" rIns="0" bIns="0" rtlCol="0" anchor="t"/>
          <a:lstStyle/>
          <a:p>
            <a:pPr marL="0" indent="0" algn="ctr">
              <a:buNone/>
            </a:pPr>
            <a:r>
              <a:rPr lang="en-US" sz="1100" dirty="0">
                <a:solidFill>
                  <a:srgbClr val="E5F6F5"/>
                </a:solidFill>
                <a:latin typeface="Calibri" pitchFamily="34" charset="0"/>
                <a:ea typeface="Calibri" pitchFamily="34" charset="-122"/>
                <a:cs typeface="Calibri" pitchFamily="34" charset="-120"/>
              </a:rPr>
              <a:t>verified answers to the 8 core enquiry categories</a:t>
            </a:r>
            <a:endParaRPr lang="en-US" sz="1100" dirty="0"/>
          </a:p>
        </p:txBody>
      </p:sp>
      <p:sp>
        <p:nvSpPr>
          <p:cNvPr id="9" name="Shape 6"/>
          <p:cNvSpPr/>
          <p:nvPr/>
        </p:nvSpPr>
        <p:spPr>
          <a:xfrm>
            <a:off x="3355848" y="1645920"/>
            <a:ext cx="2606040" cy="3017520"/>
          </a:xfrm>
          <a:prstGeom prst="roundRect">
            <a:avLst>
              <a:gd name="adj" fmla="val 2807"/>
            </a:avLst>
          </a:prstGeom>
          <a:solidFill>
            <a:srgbClr val="0B2545"/>
          </a:solidFill>
          <a:ln/>
        </p:spPr>
      </p:sp>
      <p:sp>
        <p:nvSpPr>
          <p:cNvPr id="10" name="Shape 7"/>
          <p:cNvSpPr/>
          <p:nvPr/>
        </p:nvSpPr>
        <p:spPr>
          <a:xfrm>
            <a:off x="4338828" y="1965960"/>
            <a:ext cx="640080" cy="640080"/>
          </a:xfrm>
          <a:prstGeom prst="ellipse">
            <a:avLst/>
          </a:prstGeom>
          <a:solidFill>
            <a:srgbClr val="00A896"/>
          </a:solidFill>
          <a:ln/>
        </p:spPr>
      </p:sp>
      <p:pic>
        <p:nvPicPr>
          <p:cNvPr id="11" name="Image 1" descr="icons/layers.png"/>
          <p:cNvPicPr>
            <a:picLocks noChangeAspect="1"/>
          </p:cNvPicPr>
          <p:nvPr/>
        </p:nvPicPr>
        <p:blipFill>
          <a:blip r:embed="rId4"/>
          <a:stretch>
            <a:fillRect/>
          </a:stretch>
        </p:blipFill>
        <p:spPr>
          <a:xfrm>
            <a:off x="4409237" y="2036369"/>
            <a:ext cx="499262" cy="499262"/>
          </a:xfrm>
          <a:prstGeom prst="rect">
            <a:avLst/>
          </a:prstGeom>
        </p:spPr>
      </p:pic>
      <p:sp>
        <p:nvSpPr>
          <p:cNvPr id="12" name="Text 8"/>
          <p:cNvSpPr txBox="1"/>
          <p:nvPr/>
        </p:nvSpPr>
        <p:spPr>
          <a:xfrm>
            <a:off x="3493008" y="2834640"/>
            <a:ext cx="23317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245</a:t>
            </a:r>
            <a:endParaRPr lang="en-US" sz="2200" dirty="0"/>
          </a:p>
        </p:txBody>
      </p:sp>
      <p:sp>
        <p:nvSpPr>
          <p:cNvPr id="13" name="Text 9"/>
          <p:cNvSpPr txBox="1"/>
          <p:nvPr/>
        </p:nvSpPr>
        <p:spPr>
          <a:xfrm>
            <a:off x="3538728" y="3383280"/>
            <a:ext cx="2240280" cy="1097280"/>
          </a:xfrm>
          <a:prstGeom prst="rect">
            <a:avLst/>
          </a:prstGeom>
          <a:noFill/>
          <a:ln/>
        </p:spPr>
        <p:txBody>
          <a:bodyPr wrap="square" lIns="0" tIns="0" rIns="0" bIns="0" rtlCol="0" anchor="t"/>
          <a:lstStyle/>
          <a:p>
            <a:pPr marL="0" indent="0" algn="ctr">
              <a:buNone/>
            </a:pPr>
            <a:r>
              <a:rPr lang="en-US" sz="1100" dirty="0">
                <a:solidFill>
                  <a:srgbClr val="E5F6F5"/>
                </a:solidFill>
                <a:latin typeface="Calibri" pitchFamily="34" charset="0"/>
                <a:ea typeface="Calibri" pitchFamily="34" charset="-122"/>
                <a:cs typeface="Calibri" pitchFamily="34" charset="-120"/>
              </a:rPr>
              <a:t>verified Q&amp;A pairs backing every response</a:t>
            </a:r>
            <a:endParaRPr lang="en-US" sz="1100" dirty="0"/>
          </a:p>
        </p:txBody>
      </p:sp>
      <p:sp>
        <p:nvSpPr>
          <p:cNvPr id="14" name="Shape 10"/>
          <p:cNvSpPr/>
          <p:nvPr/>
        </p:nvSpPr>
        <p:spPr>
          <a:xfrm>
            <a:off x="6163056" y="1645920"/>
            <a:ext cx="2606040" cy="3017520"/>
          </a:xfrm>
          <a:prstGeom prst="roundRect">
            <a:avLst>
              <a:gd name="adj" fmla="val 2807"/>
            </a:avLst>
          </a:prstGeom>
          <a:solidFill>
            <a:srgbClr val="028090"/>
          </a:solidFill>
          <a:ln/>
        </p:spPr>
      </p:sp>
      <p:sp>
        <p:nvSpPr>
          <p:cNvPr id="15" name="Shape 11"/>
          <p:cNvSpPr/>
          <p:nvPr/>
        </p:nvSpPr>
        <p:spPr>
          <a:xfrm>
            <a:off x="7146036" y="1965960"/>
            <a:ext cx="640080" cy="640080"/>
          </a:xfrm>
          <a:prstGeom prst="ellipse">
            <a:avLst/>
          </a:prstGeom>
          <a:solidFill>
            <a:srgbClr val="0B2545"/>
          </a:solidFill>
          <a:ln/>
        </p:spPr>
      </p:sp>
      <p:pic>
        <p:nvPicPr>
          <p:cNvPr id="16" name="Image 2" descr="icons/check.png"/>
          <p:cNvPicPr>
            <a:picLocks noChangeAspect="1"/>
          </p:cNvPicPr>
          <p:nvPr/>
        </p:nvPicPr>
        <p:blipFill>
          <a:blip r:embed="rId5"/>
          <a:stretch>
            <a:fillRect/>
          </a:stretch>
        </p:blipFill>
        <p:spPr>
          <a:xfrm>
            <a:off x="7216445" y="2036369"/>
            <a:ext cx="499262" cy="499262"/>
          </a:xfrm>
          <a:prstGeom prst="rect">
            <a:avLst/>
          </a:prstGeom>
        </p:spPr>
      </p:pic>
      <p:sp>
        <p:nvSpPr>
          <p:cNvPr id="17" name="Text 12"/>
          <p:cNvSpPr txBox="1"/>
          <p:nvPr/>
        </p:nvSpPr>
        <p:spPr>
          <a:xfrm>
            <a:off x="6300216" y="2834640"/>
            <a:ext cx="23317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Reduced</a:t>
            </a:r>
            <a:endParaRPr lang="en-US" sz="2200" dirty="0"/>
          </a:p>
        </p:txBody>
      </p:sp>
      <p:sp>
        <p:nvSpPr>
          <p:cNvPr id="18" name="Text 13"/>
          <p:cNvSpPr txBox="1"/>
          <p:nvPr/>
        </p:nvSpPr>
        <p:spPr>
          <a:xfrm>
            <a:off x="6345936" y="3383280"/>
            <a:ext cx="2240280" cy="1097280"/>
          </a:xfrm>
          <a:prstGeom prst="rect">
            <a:avLst/>
          </a:prstGeom>
          <a:noFill/>
          <a:ln/>
        </p:spPr>
        <p:txBody>
          <a:bodyPr wrap="square" lIns="0" tIns="0" rIns="0" bIns="0" rtlCol="0" anchor="t"/>
          <a:lstStyle/>
          <a:p>
            <a:pPr marL="0" indent="0" algn="ctr">
              <a:buNone/>
            </a:pPr>
            <a:r>
              <a:rPr lang="en-US" sz="1100" dirty="0">
                <a:solidFill>
                  <a:srgbClr val="E5F6F5"/>
                </a:solidFill>
                <a:latin typeface="Calibri" pitchFamily="34" charset="0"/>
                <a:ea typeface="Calibri" pitchFamily="34" charset="-122"/>
                <a:cs typeface="Calibri" pitchFamily="34" charset="-120"/>
              </a:rPr>
              <a:t>repetitive load on admissions &amp; administrative staff</a:t>
            </a:r>
            <a:endParaRPr lang="en-US" sz="1100" dirty="0"/>
          </a:p>
        </p:txBody>
      </p:sp>
      <p:sp>
        <p:nvSpPr>
          <p:cNvPr id="19" name="Shape 14"/>
          <p:cNvSpPr/>
          <p:nvPr/>
        </p:nvSpPr>
        <p:spPr>
          <a:xfrm>
            <a:off x="8970264" y="1645920"/>
            <a:ext cx="2606040" cy="3017520"/>
          </a:xfrm>
          <a:prstGeom prst="roundRect">
            <a:avLst>
              <a:gd name="adj" fmla="val 2807"/>
            </a:avLst>
          </a:prstGeom>
          <a:solidFill>
            <a:srgbClr val="0B2545"/>
          </a:solidFill>
          <a:ln/>
        </p:spPr>
      </p:sp>
      <p:sp>
        <p:nvSpPr>
          <p:cNvPr id="20" name="Shape 15"/>
          <p:cNvSpPr/>
          <p:nvPr/>
        </p:nvSpPr>
        <p:spPr>
          <a:xfrm>
            <a:off x="9953244" y="1965960"/>
            <a:ext cx="640080" cy="640080"/>
          </a:xfrm>
          <a:prstGeom prst="ellipse">
            <a:avLst/>
          </a:prstGeom>
          <a:solidFill>
            <a:srgbClr val="00A896"/>
          </a:solidFill>
          <a:ln/>
        </p:spPr>
      </p:sp>
      <p:pic>
        <p:nvPicPr>
          <p:cNvPr id="21" name="Image 3" descr="icons/robot.png"/>
          <p:cNvPicPr>
            <a:picLocks noChangeAspect="1"/>
          </p:cNvPicPr>
          <p:nvPr/>
        </p:nvPicPr>
        <p:blipFill>
          <a:blip r:embed="rId6"/>
          <a:stretch>
            <a:fillRect/>
          </a:stretch>
        </p:blipFill>
        <p:spPr>
          <a:xfrm>
            <a:off x="10023653" y="2036369"/>
            <a:ext cx="499262" cy="499262"/>
          </a:xfrm>
          <a:prstGeom prst="rect">
            <a:avLst/>
          </a:prstGeom>
        </p:spPr>
      </p:pic>
      <p:sp>
        <p:nvSpPr>
          <p:cNvPr id="22" name="Text 16"/>
          <p:cNvSpPr txBox="1"/>
          <p:nvPr/>
        </p:nvSpPr>
        <p:spPr>
          <a:xfrm>
            <a:off x="9107424" y="2834640"/>
            <a:ext cx="23317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Graceful</a:t>
            </a:r>
            <a:endParaRPr lang="en-US" sz="2200" dirty="0"/>
          </a:p>
        </p:txBody>
      </p:sp>
      <p:sp>
        <p:nvSpPr>
          <p:cNvPr id="23" name="Text 17"/>
          <p:cNvSpPr txBox="1"/>
          <p:nvPr/>
        </p:nvSpPr>
        <p:spPr>
          <a:xfrm>
            <a:off x="9153144" y="3383280"/>
            <a:ext cx="2240280" cy="1097280"/>
          </a:xfrm>
          <a:prstGeom prst="rect">
            <a:avLst/>
          </a:prstGeom>
          <a:noFill/>
          <a:ln/>
        </p:spPr>
        <p:txBody>
          <a:bodyPr wrap="square" lIns="0" tIns="0" rIns="0" bIns="0" rtlCol="0" anchor="t"/>
          <a:lstStyle/>
          <a:p>
            <a:pPr marL="0" indent="0" algn="ctr">
              <a:buNone/>
            </a:pPr>
            <a:r>
              <a:rPr lang="en-US" sz="1100" dirty="0">
                <a:solidFill>
                  <a:srgbClr val="E5F6F5"/>
                </a:solidFill>
                <a:latin typeface="Calibri" pitchFamily="34" charset="0"/>
                <a:ea typeface="Calibri" pitchFamily="34" charset="-122"/>
                <a:cs typeface="Calibri" pitchFamily="34" charset="-120"/>
              </a:rPr>
              <a:t>fallback via Groq for questions outside the dataset</a:t>
            </a:r>
            <a:endParaRPr lang="en-US" sz="1100" dirty="0"/>
          </a:p>
        </p:txBody>
      </p:sp>
      <p:sp>
        <p:nvSpPr>
          <p:cNvPr id="24" name="Text 18"/>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C7A85"/>
                </a:solidFill>
                <a:latin typeface="Calibri" pitchFamily="34" charset="0"/>
                <a:ea typeface="Calibri" pitchFamily="34" charset="-122"/>
                <a:cs typeface="Calibri" pitchFamily="34" charset="-120"/>
              </a:rPr>
              <a:t>11</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22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22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22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22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22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22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wipe(left)">
                                      <p:cBhvr>
                                        <p:cTn id="107" dur="22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22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22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p:bldP spid="12" grpId="0" animBg="1"/>
      <p:bldP spid="13" grpId="0" animBg="1"/>
      <p:bldP spid="14" grpId="0" animBg="1"/>
      <p:bldP spid="15" grpId="0" animBg="1"/>
      <p:bldP spid="16" grpId="0"/>
      <p:bldP spid="17" grpId="0" animBg="1"/>
      <p:bldP spid="18" grpId="0" animBg="1"/>
      <p:bldP spid="19" grpId="0" animBg="1"/>
      <p:bldP spid="20" grpId="0" animBg="1"/>
      <p:bldP spid="21" grpId="0"/>
      <p:bldP spid="22" grpId="0" animBg="1"/>
      <p:bldP spid="23" grpId="0" animBg="1"/>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A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WHAT'S NEXT</a:t>
            </a:r>
            <a:endParaRPr lang="en-US" sz="1300" dirty="0"/>
          </a:p>
        </p:txBody>
      </p:sp>
      <p:sp>
        <p:nvSpPr>
          <p:cNvPr id="3" name="Text 1"/>
          <p:cNvSpPr txBox="1"/>
          <p:nvPr/>
        </p:nvSpPr>
        <p:spPr>
          <a:xfrm>
            <a:off x="548640" y="685800"/>
            <a:ext cx="7315200" cy="548640"/>
          </a:xfrm>
          <a:prstGeom prst="rect">
            <a:avLst/>
          </a:prstGeom>
          <a:noFill/>
          <a:ln/>
        </p:spPr>
        <p:txBody>
          <a:bodyPr wrap="square" lIns="0" tIns="0" rIns="0" bIns="0"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Future Scope</a:t>
            </a:r>
            <a:endParaRPr lang="en-US" sz="3000" dirty="0"/>
          </a:p>
        </p:txBody>
      </p:sp>
      <p:sp>
        <p:nvSpPr>
          <p:cNvPr id="4" name="Shape 2"/>
          <p:cNvSpPr/>
          <p:nvPr/>
        </p:nvSpPr>
        <p:spPr>
          <a:xfrm>
            <a:off x="548640" y="1600200"/>
            <a:ext cx="2606040" cy="3017520"/>
          </a:xfrm>
          <a:prstGeom prst="roundRect">
            <a:avLst>
              <a:gd name="adj" fmla="val 2807"/>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5" name="Shape 3"/>
          <p:cNvSpPr/>
          <p:nvPr/>
        </p:nvSpPr>
        <p:spPr>
          <a:xfrm>
            <a:off x="1531620" y="1874520"/>
            <a:ext cx="640080" cy="640080"/>
          </a:xfrm>
          <a:prstGeom prst="ellipse">
            <a:avLst/>
          </a:prstGeom>
          <a:solidFill>
            <a:srgbClr val="02C39A"/>
          </a:solidFill>
          <a:ln/>
        </p:spPr>
      </p:sp>
      <p:pic>
        <p:nvPicPr>
          <p:cNvPr id="6" name="Image 0" descr="icons/robot.png"/>
          <p:cNvPicPr>
            <a:picLocks noChangeAspect="1"/>
          </p:cNvPicPr>
          <p:nvPr/>
        </p:nvPicPr>
        <p:blipFill>
          <a:blip r:embed="rId3"/>
          <a:stretch>
            <a:fillRect/>
          </a:stretch>
        </p:blipFill>
        <p:spPr>
          <a:xfrm>
            <a:off x="1602029" y="1944929"/>
            <a:ext cx="499262" cy="499262"/>
          </a:xfrm>
          <a:prstGeom prst="rect">
            <a:avLst/>
          </a:prstGeom>
        </p:spPr>
      </p:pic>
      <p:sp>
        <p:nvSpPr>
          <p:cNvPr id="7" name="Text 4"/>
          <p:cNvSpPr txBox="1"/>
          <p:nvPr/>
        </p:nvSpPr>
        <p:spPr>
          <a:xfrm>
            <a:off x="713232" y="2697480"/>
            <a:ext cx="2276856" cy="548640"/>
          </a:xfrm>
          <a:prstGeom prst="rect">
            <a:avLst/>
          </a:prstGeom>
          <a:noFill/>
          <a:ln/>
        </p:spPr>
        <p:txBody>
          <a:bodyPr wrap="square" lIns="0" tIns="0" rIns="0" bIns="0" rtlCol="0" anchor="t"/>
          <a:lstStyle/>
          <a:p>
            <a:pPr marL="0" indent="0" algn="ctr">
              <a:buNone/>
            </a:pPr>
            <a:r>
              <a:rPr lang="en-US" sz="1300" b="1" dirty="0">
                <a:solidFill>
                  <a:srgbClr val="13293D"/>
                </a:solidFill>
                <a:latin typeface="Calibri" pitchFamily="34" charset="0"/>
                <a:ea typeface="Calibri" pitchFamily="34" charset="-122"/>
                <a:cs typeface="Calibri" pitchFamily="34" charset="-120"/>
              </a:rPr>
              <a:t>Advanced AI models</a:t>
            </a:r>
            <a:endParaRPr lang="en-US" sz="1300" dirty="0"/>
          </a:p>
        </p:txBody>
      </p:sp>
      <p:sp>
        <p:nvSpPr>
          <p:cNvPr id="8" name="Text 5"/>
          <p:cNvSpPr txBox="1"/>
          <p:nvPr/>
        </p:nvSpPr>
        <p:spPr>
          <a:xfrm>
            <a:off x="713232" y="3291840"/>
            <a:ext cx="2276856" cy="1188720"/>
          </a:xfrm>
          <a:prstGeom prst="rect">
            <a:avLst/>
          </a:prstGeom>
          <a:noFill/>
          <a:ln/>
        </p:spPr>
        <p:txBody>
          <a:bodyPr wrap="square" lIns="0" tIns="0" rIns="0" bIns="0" rtlCol="0" anchor="t"/>
          <a:lstStyle/>
          <a:p>
            <a:pPr marL="0" indent="0" algn="ctr">
              <a:buNone/>
            </a:pPr>
            <a:r>
              <a:rPr lang="en-US" sz="1100" dirty="0">
                <a:solidFill>
                  <a:srgbClr val="5C7A85"/>
                </a:solidFill>
                <a:latin typeface="Calibri" pitchFamily="34" charset="0"/>
                <a:ea typeface="Calibri" pitchFamily="34" charset="-122"/>
                <a:cs typeface="Calibri" pitchFamily="34" charset="-120"/>
              </a:rPr>
              <a:t>Move from classical ML toward transformer-based intent understanding for finer-grained queries.</a:t>
            </a:r>
            <a:endParaRPr lang="en-US" sz="1100" dirty="0"/>
          </a:p>
        </p:txBody>
      </p:sp>
      <p:sp>
        <p:nvSpPr>
          <p:cNvPr id="9" name="Shape 6"/>
          <p:cNvSpPr/>
          <p:nvPr/>
        </p:nvSpPr>
        <p:spPr>
          <a:xfrm>
            <a:off x="3355848" y="1600200"/>
            <a:ext cx="2606040" cy="3017520"/>
          </a:xfrm>
          <a:prstGeom prst="roundRect">
            <a:avLst>
              <a:gd name="adj" fmla="val 2807"/>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10" name="Shape 7"/>
          <p:cNvSpPr/>
          <p:nvPr/>
        </p:nvSpPr>
        <p:spPr>
          <a:xfrm>
            <a:off x="4338828" y="1874520"/>
            <a:ext cx="640080" cy="640080"/>
          </a:xfrm>
          <a:prstGeom prst="ellipse">
            <a:avLst/>
          </a:prstGeom>
          <a:solidFill>
            <a:srgbClr val="02C39A"/>
          </a:solidFill>
          <a:ln/>
        </p:spPr>
      </p:sp>
      <p:pic>
        <p:nvPicPr>
          <p:cNvPr id="11" name="Image 1" descr="icons/comments.png"/>
          <p:cNvPicPr>
            <a:picLocks noChangeAspect="1"/>
          </p:cNvPicPr>
          <p:nvPr/>
        </p:nvPicPr>
        <p:blipFill>
          <a:blip r:embed="rId4"/>
          <a:stretch>
            <a:fillRect/>
          </a:stretch>
        </p:blipFill>
        <p:spPr>
          <a:xfrm>
            <a:off x="4409237" y="1944929"/>
            <a:ext cx="499262" cy="499262"/>
          </a:xfrm>
          <a:prstGeom prst="rect">
            <a:avLst/>
          </a:prstGeom>
        </p:spPr>
      </p:pic>
      <p:sp>
        <p:nvSpPr>
          <p:cNvPr id="12" name="Text 8"/>
          <p:cNvSpPr txBox="1"/>
          <p:nvPr/>
        </p:nvSpPr>
        <p:spPr>
          <a:xfrm>
            <a:off x="3520440" y="2697480"/>
            <a:ext cx="2276856" cy="548640"/>
          </a:xfrm>
          <a:prstGeom prst="rect">
            <a:avLst/>
          </a:prstGeom>
          <a:noFill/>
          <a:ln/>
        </p:spPr>
        <p:txBody>
          <a:bodyPr wrap="square" lIns="0" tIns="0" rIns="0" bIns="0" rtlCol="0" anchor="t"/>
          <a:lstStyle/>
          <a:p>
            <a:pPr marL="0" indent="0" algn="ctr">
              <a:buNone/>
            </a:pPr>
            <a:r>
              <a:rPr lang="en-US" sz="1300" b="1" dirty="0">
                <a:solidFill>
                  <a:srgbClr val="13293D"/>
                </a:solidFill>
                <a:latin typeface="Calibri" pitchFamily="34" charset="0"/>
                <a:ea typeface="Calibri" pitchFamily="34" charset="-122"/>
                <a:cs typeface="Calibri" pitchFamily="34" charset="-120"/>
              </a:rPr>
              <a:t>Multilingual support</a:t>
            </a:r>
            <a:endParaRPr lang="en-US" sz="1300" dirty="0"/>
          </a:p>
        </p:txBody>
      </p:sp>
      <p:sp>
        <p:nvSpPr>
          <p:cNvPr id="13" name="Text 9"/>
          <p:cNvSpPr txBox="1"/>
          <p:nvPr/>
        </p:nvSpPr>
        <p:spPr>
          <a:xfrm>
            <a:off x="3520440" y="3291840"/>
            <a:ext cx="2276856" cy="1188720"/>
          </a:xfrm>
          <a:prstGeom prst="rect">
            <a:avLst/>
          </a:prstGeom>
          <a:noFill/>
          <a:ln/>
        </p:spPr>
        <p:txBody>
          <a:bodyPr wrap="square" lIns="0" tIns="0" rIns="0" bIns="0" rtlCol="0" anchor="t"/>
          <a:lstStyle/>
          <a:p>
            <a:pPr marL="0" indent="0" algn="ctr">
              <a:buNone/>
            </a:pPr>
            <a:r>
              <a:rPr lang="en-US" sz="1100" dirty="0">
                <a:solidFill>
                  <a:srgbClr val="5C7A85"/>
                </a:solidFill>
                <a:latin typeface="Calibri" pitchFamily="34" charset="0"/>
                <a:ea typeface="Calibri" pitchFamily="34" charset="-122"/>
                <a:cs typeface="Calibri" pitchFamily="34" charset="-120"/>
              </a:rPr>
              <a:t>Serve regional-language questions alongside English for wider accessibility.</a:t>
            </a:r>
            <a:endParaRPr lang="en-US" sz="1100" dirty="0"/>
          </a:p>
        </p:txBody>
      </p:sp>
      <p:sp>
        <p:nvSpPr>
          <p:cNvPr id="14" name="Shape 10"/>
          <p:cNvSpPr/>
          <p:nvPr/>
        </p:nvSpPr>
        <p:spPr>
          <a:xfrm>
            <a:off x="6163056" y="1600200"/>
            <a:ext cx="2606040" cy="3017520"/>
          </a:xfrm>
          <a:prstGeom prst="roundRect">
            <a:avLst>
              <a:gd name="adj" fmla="val 2807"/>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15" name="Shape 11"/>
          <p:cNvSpPr/>
          <p:nvPr/>
        </p:nvSpPr>
        <p:spPr>
          <a:xfrm>
            <a:off x="7146036" y="1874520"/>
            <a:ext cx="640080" cy="640080"/>
          </a:xfrm>
          <a:prstGeom prst="ellipse">
            <a:avLst/>
          </a:prstGeom>
          <a:solidFill>
            <a:srgbClr val="02C39A"/>
          </a:solidFill>
          <a:ln/>
        </p:spPr>
      </p:sp>
      <p:pic>
        <p:nvPicPr>
          <p:cNvPr id="16" name="Image 2" descr="icons/bolt.png"/>
          <p:cNvPicPr>
            <a:picLocks noChangeAspect="1"/>
          </p:cNvPicPr>
          <p:nvPr/>
        </p:nvPicPr>
        <p:blipFill>
          <a:blip r:embed="rId5"/>
          <a:stretch>
            <a:fillRect/>
          </a:stretch>
        </p:blipFill>
        <p:spPr>
          <a:xfrm>
            <a:off x="7216445" y="1944929"/>
            <a:ext cx="499262" cy="499262"/>
          </a:xfrm>
          <a:prstGeom prst="rect">
            <a:avLst/>
          </a:prstGeom>
        </p:spPr>
      </p:pic>
      <p:sp>
        <p:nvSpPr>
          <p:cNvPr id="17" name="Text 12"/>
          <p:cNvSpPr txBox="1"/>
          <p:nvPr/>
        </p:nvSpPr>
        <p:spPr>
          <a:xfrm>
            <a:off x="6327648" y="2697480"/>
            <a:ext cx="2276856" cy="548640"/>
          </a:xfrm>
          <a:prstGeom prst="rect">
            <a:avLst/>
          </a:prstGeom>
          <a:noFill/>
          <a:ln/>
        </p:spPr>
        <p:txBody>
          <a:bodyPr wrap="square" lIns="0" tIns="0" rIns="0" bIns="0" rtlCol="0" anchor="t"/>
          <a:lstStyle/>
          <a:p>
            <a:pPr marL="0" indent="0" algn="ctr">
              <a:buNone/>
            </a:pPr>
            <a:r>
              <a:rPr lang="en-US" sz="1300" b="1" dirty="0">
                <a:solidFill>
                  <a:srgbClr val="13293D"/>
                </a:solidFill>
                <a:latin typeface="Calibri" pitchFamily="34" charset="0"/>
                <a:ea typeface="Calibri" pitchFamily="34" charset="-122"/>
                <a:cs typeface="Calibri" pitchFamily="34" charset="-120"/>
              </a:rPr>
              <a:t>Voice-based interaction</a:t>
            </a:r>
            <a:endParaRPr lang="en-US" sz="1300" dirty="0"/>
          </a:p>
        </p:txBody>
      </p:sp>
      <p:sp>
        <p:nvSpPr>
          <p:cNvPr id="18" name="Text 13"/>
          <p:cNvSpPr txBox="1"/>
          <p:nvPr/>
        </p:nvSpPr>
        <p:spPr>
          <a:xfrm>
            <a:off x="6327648" y="3291840"/>
            <a:ext cx="2276856" cy="1188720"/>
          </a:xfrm>
          <a:prstGeom prst="rect">
            <a:avLst/>
          </a:prstGeom>
          <a:noFill/>
          <a:ln/>
        </p:spPr>
        <p:txBody>
          <a:bodyPr wrap="square" lIns="0" tIns="0" rIns="0" bIns="0" rtlCol="0" anchor="t"/>
          <a:lstStyle/>
          <a:p>
            <a:pPr marL="0" indent="0" algn="ctr">
              <a:buNone/>
            </a:pPr>
            <a:r>
              <a:rPr lang="en-US" sz="1100" dirty="0">
                <a:solidFill>
                  <a:srgbClr val="5C7A85"/>
                </a:solidFill>
                <a:latin typeface="Calibri" pitchFamily="34" charset="0"/>
                <a:ea typeface="Calibri" pitchFamily="34" charset="-122"/>
                <a:cs typeface="Calibri" pitchFamily="34" charset="-120"/>
              </a:rPr>
              <a:t>Add speech-to-text so students can simply speak their question.</a:t>
            </a:r>
            <a:endParaRPr lang="en-US" sz="1100" dirty="0"/>
          </a:p>
        </p:txBody>
      </p:sp>
      <p:sp>
        <p:nvSpPr>
          <p:cNvPr id="19" name="Shape 14"/>
          <p:cNvSpPr/>
          <p:nvPr/>
        </p:nvSpPr>
        <p:spPr>
          <a:xfrm>
            <a:off x="8970264" y="1600200"/>
            <a:ext cx="2606040" cy="3017520"/>
          </a:xfrm>
          <a:prstGeom prst="roundRect">
            <a:avLst>
              <a:gd name="adj" fmla="val 2807"/>
            </a:avLst>
          </a:prstGeom>
          <a:solidFill>
            <a:srgbClr val="FFFFFF"/>
          </a:solidFill>
          <a:ln w="12700">
            <a:solidFill>
              <a:srgbClr val="DCEEEC"/>
            </a:solidFill>
            <a:prstDash val="solid"/>
          </a:ln>
          <a:effectLst>
            <a:outerShdw blurRad="76200" dist="25400" dir="5400000" algn="bl" rotWithShape="0">
              <a:srgbClr val="1C7293">
                <a:alpha val="13000"/>
              </a:srgbClr>
            </a:outerShdw>
          </a:effectLst>
        </p:spPr>
      </p:sp>
      <p:sp>
        <p:nvSpPr>
          <p:cNvPr id="20" name="Shape 15"/>
          <p:cNvSpPr/>
          <p:nvPr/>
        </p:nvSpPr>
        <p:spPr>
          <a:xfrm>
            <a:off x="9953244" y="1874520"/>
            <a:ext cx="640080" cy="640080"/>
          </a:xfrm>
          <a:prstGeom prst="ellipse">
            <a:avLst/>
          </a:prstGeom>
          <a:solidFill>
            <a:srgbClr val="02C39A"/>
          </a:solidFill>
          <a:ln/>
        </p:spPr>
      </p:sp>
      <p:pic>
        <p:nvPicPr>
          <p:cNvPr id="21" name="Image 3" descr="icons/layers.png"/>
          <p:cNvPicPr>
            <a:picLocks noChangeAspect="1"/>
          </p:cNvPicPr>
          <p:nvPr/>
        </p:nvPicPr>
        <p:blipFill>
          <a:blip r:embed="rId6"/>
          <a:stretch>
            <a:fillRect/>
          </a:stretch>
        </p:blipFill>
        <p:spPr>
          <a:xfrm>
            <a:off x="10023653" y="1944929"/>
            <a:ext cx="499262" cy="499262"/>
          </a:xfrm>
          <a:prstGeom prst="rect">
            <a:avLst/>
          </a:prstGeom>
        </p:spPr>
      </p:pic>
      <p:sp>
        <p:nvSpPr>
          <p:cNvPr id="22" name="Text 16"/>
          <p:cNvSpPr txBox="1"/>
          <p:nvPr/>
        </p:nvSpPr>
        <p:spPr>
          <a:xfrm>
            <a:off x="9134856" y="2697480"/>
            <a:ext cx="2276856" cy="548640"/>
          </a:xfrm>
          <a:prstGeom prst="rect">
            <a:avLst/>
          </a:prstGeom>
          <a:noFill/>
          <a:ln/>
        </p:spPr>
        <p:txBody>
          <a:bodyPr wrap="square" lIns="0" tIns="0" rIns="0" bIns="0" rtlCol="0" anchor="t"/>
          <a:lstStyle/>
          <a:p>
            <a:pPr marL="0" indent="0" algn="ctr">
              <a:buNone/>
            </a:pPr>
            <a:r>
              <a:rPr lang="en-US" sz="1300" b="1" dirty="0">
                <a:solidFill>
                  <a:srgbClr val="13293D"/>
                </a:solidFill>
                <a:latin typeface="Calibri" pitchFamily="34" charset="0"/>
                <a:ea typeface="Calibri" pitchFamily="34" charset="-122"/>
                <a:cs typeface="Calibri" pitchFamily="34" charset="-120"/>
              </a:rPr>
              <a:t>WhatsApp &amp; ERP integration</a:t>
            </a:r>
            <a:endParaRPr lang="en-US" sz="1300" dirty="0"/>
          </a:p>
        </p:txBody>
      </p:sp>
      <p:sp>
        <p:nvSpPr>
          <p:cNvPr id="23" name="Text 17"/>
          <p:cNvSpPr txBox="1"/>
          <p:nvPr/>
        </p:nvSpPr>
        <p:spPr>
          <a:xfrm>
            <a:off x="9134856" y="3291840"/>
            <a:ext cx="2276856" cy="1188720"/>
          </a:xfrm>
          <a:prstGeom prst="rect">
            <a:avLst/>
          </a:prstGeom>
          <a:noFill/>
          <a:ln/>
        </p:spPr>
        <p:txBody>
          <a:bodyPr wrap="square" lIns="0" tIns="0" rIns="0" bIns="0" rtlCol="0" anchor="t"/>
          <a:lstStyle/>
          <a:p>
            <a:pPr marL="0" indent="0" algn="ctr">
              <a:buNone/>
            </a:pPr>
            <a:r>
              <a:rPr lang="en-US" sz="1100" dirty="0">
                <a:solidFill>
                  <a:srgbClr val="5C7A85"/>
                </a:solidFill>
                <a:latin typeface="Calibri" pitchFamily="34" charset="0"/>
                <a:ea typeface="Calibri" pitchFamily="34" charset="-122"/>
                <a:cs typeface="Calibri" pitchFamily="34" charset="-120"/>
              </a:rPr>
              <a:t>Meet students where they already are, and connect directly to live ERP data.</a:t>
            </a:r>
            <a:endParaRPr lang="en-US" sz="1100" dirty="0"/>
          </a:p>
        </p:txBody>
      </p:sp>
      <p:sp>
        <p:nvSpPr>
          <p:cNvPr id="24" name="Text 18"/>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C7A85"/>
                </a:solidFill>
                <a:latin typeface="Calibri" pitchFamily="34" charset="0"/>
                <a:ea typeface="Calibri" pitchFamily="34" charset="-122"/>
                <a:cs typeface="Calibri" pitchFamily="34" charset="-120"/>
              </a:rPr>
              <a:t>12</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2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22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22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2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22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22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22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22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22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22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22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22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wipe(left)">
                                      <p:cBhvr>
                                        <p:cTn id="107" dur="22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22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22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p:bldP spid="12" grpId="0" animBg="1"/>
      <p:bldP spid="13" grpId="0" animBg="1"/>
      <p:bldP spid="14" grpId="0" animBg="1"/>
      <p:bldP spid="15" grpId="0" animBg="1"/>
      <p:bldP spid="16" grpId="0"/>
      <p:bldP spid="17" grpId="0" animBg="1"/>
      <p:bldP spid="18" grpId="0" animBg="1"/>
      <p:bldP spid="19" grpId="0" animBg="1"/>
      <p:bldP spid="20" grpId="0" animBg="1"/>
      <p:bldP spid="21" grpId="0"/>
      <p:bldP spid="22" grpId="0" animBg="1"/>
      <p:bldP spid="23" grpId="0" animBg="1"/>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8412480" y="-1828800"/>
            <a:ext cx="6400800" cy="6400800"/>
          </a:xfrm>
          <a:prstGeom prst="ellipse">
            <a:avLst/>
          </a:prstGeom>
          <a:solidFill>
            <a:srgbClr val="028090">
              <a:alpha val="20000"/>
            </a:srgbClr>
          </a:solidFill>
          <a:ln/>
        </p:spPr>
      </p:sp>
      <p:sp>
        <p:nvSpPr>
          <p:cNvPr id="3" name="Shape 1"/>
          <p:cNvSpPr/>
          <p:nvPr/>
        </p:nvSpPr>
        <p:spPr>
          <a:xfrm>
            <a:off x="5591556" y="1371600"/>
            <a:ext cx="1005840" cy="1005840"/>
          </a:xfrm>
          <a:prstGeom prst="ellipse">
            <a:avLst/>
          </a:prstGeom>
          <a:solidFill>
            <a:srgbClr val="02C39A"/>
          </a:solidFill>
          <a:ln/>
        </p:spPr>
      </p:sp>
      <p:pic>
        <p:nvPicPr>
          <p:cNvPr id="4" name="Image 0" descr="icons/play.png"/>
          <p:cNvPicPr>
            <a:picLocks noChangeAspect="1"/>
          </p:cNvPicPr>
          <p:nvPr/>
        </p:nvPicPr>
        <p:blipFill>
          <a:blip r:embed="rId3"/>
          <a:stretch>
            <a:fillRect/>
          </a:stretch>
        </p:blipFill>
        <p:spPr>
          <a:xfrm>
            <a:off x="5702198" y="1482242"/>
            <a:ext cx="784555" cy="784555"/>
          </a:xfrm>
          <a:prstGeom prst="rect">
            <a:avLst/>
          </a:prstGeom>
        </p:spPr>
      </p:pic>
      <p:sp>
        <p:nvSpPr>
          <p:cNvPr id="5" name="Text 2"/>
          <p:cNvSpPr txBox="1"/>
          <p:nvPr/>
        </p:nvSpPr>
        <p:spPr>
          <a:xfrm>
            <a:off x="0" y="2651760"/>
            <a:ext cx="12188952"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Live Demo</a:t>
            </a:r>
            <a:endParaRPr lang="en-US" sz="4400" dirty="0"/>
          </a:p>
        </p:txBody>
      </p:sp>
      <p:sp>
        <p:nvSpPr>
          <p:cNvPr id="6" name="Text 3"/>
          <p:cNvSpPr txBox="1"/>
          <p:nvPr/>
        </p:nvSpPr>
        <p:spPr>
          <a:xfrm>
            <a:off x="0" y="3429000"/>
            <a:ext cx="12188952" cy="457200"/>
          </a:xfrm>
          <a:prstGeom prst="rect">
            <a:avLst/>
          </a:prstGeom>
          <a:noFill/>
          <a:ln/>
        </p:spPr>
        <p:txBody>
          <a:bodyPr wrap="square" lIns="0" tIns="0" rIns="0" bIns="0" rtlCol="0" anchor="ctr"/>
          <a:lstStyle/>
          <a:p>
            <a:pPr marL="0" indent="0" algn="ctr">
              <a:buNone/>
            </a:pPr>
            <a:r>
              <a:rPr lang="en-US" sz="1600" dirty="0">
                <a:solidFill>
                  <a:srgbClr val="9FC6C9"/>
                </a:solidFill>
                <a:latin typeface="Calibri" pitchFamily="34" charset="0"/>
                <a:ea typeface="Calibri" pitchFamily="34" charset="-122"/>
                <a:cs typeface="Calibri" pitchFamily="34" charset="-120"/>
              </a:rPr>
              <a:t>Let's ask Athenura a few real questions</a:t>
            </a:r>
            <a:endParaRPr lang="en-US" sz="1600" dirty="0"/>
          </a:p>
        </p:txBody>
      </p:sp>
      <p:sp>
        <p:nvSpPr>
          <p:cNvPr id="7" name="Shape 4"/>
          <p:cNvSpPr/>
          <p:nvPr/>
        </p:nvSpPr>
        <p:spPr>
          <a:xfrm>
            <a:off x="2651760" y="4206240"/>
            <a:ext cx="6858000" cy="1920240"/>
          </a:xfrm>
          <a:prstGeom prst="roundRect">
            <a:avLst>
              <a:gd name="adj" fmla="val 4286"/>
            </a:avLst>
          </a:prstGeom>
          <a:solidFill>
            <a:srgbClr val="10395A"/>
          </a:solidFill>
          <a:ln w="12700">
            <a:solidFill>
              <a:srgbClr val="028090"/>
            </a:solidFill>
            <a:prstDash val="solid"/>
          </a:ln>
        </p:spPr>
      </p:sp>
      <p:sp>
        <p:nvSpPr>
          <p:cNvPr id="8" name="Text 5"/>
          <p:cNvSpPr txBox="1"/>
          <p:nvPr/>
        </p:nvSpPr>
        <p:spPr>
          <a:xfrm>
            <a:off x="2971800" y="4434840"/>
            <a:ext cx="6217920" cy="1463040"/>
          </a:xfrm>
          <a:prstGeom prst="rect">
            <a:avLst/>
          </a:prstGeom>
          <a:noFill/>
          <a:ln/>
        </p:spPr>
        <p:txBody>
          <a:bodyPr wrap="square" lIns="0" tIns="0" rIns="0" bIns="0" rtlCol="0" anchor="t"/>
          <a:lstStyle/>
          <a:p>
            <a:pPr marL="342900" indent="-342900">
              <a:spcAft>
                <a:spcPts val="1000"/>
              </a:spcAft>
              <a:buSzPct val="100000"/>
              <a:buChar char="•"/>
            </a:pPr>
            <a:r>
              <a:rPr lang="en-US" sz="1300" i="1" dirty="0">
                <a:solidFill>
                  <a:srgbClr val="FFFFFF"/>
                </a:solidFill>
                <a:latin typeface="Calibri" pitchFamily="34" charset="0"/>
                <a:ea typeface="Calibri" pitchFamily="34" charset="-122"/>
                <a:cs typeface="Calibri" pitchFamily="34" charset="-120"/>
              </a:rPr>
              <a:t>"What are the eligibility criteria for B.Tech?"</a:t>
            </a:r>
            <a:endParaRPr lang="en-US" sz="1300" dirty="0"/>
          </a:p>
          <a:p>
            <a:pPr marL="342900" indent="-342900">
              <a:spcAft>
                <a:spcPts val="1000"/>
              </a:spcAft>
              <a:buSzPct val="100000"/>
              <a:buChar char="•"/>
            </a:pPr>
            <a:r>
              <a:rPr lang="en-US" sz="1300" i="1" dirty="0">
                <a:solidFill>
                  <a:srgbClr val="FFFFFF"/>
                </a:solidFill>
                <a:latin typeface="Calibri" pitchFamily="34" charset="0"/>
                <a:ea typeface="Calibri" pitchFamily="34" charset="-122"/>
                <a:cs typeface="Calibri" pitchFamily="34" charset="-120"/>
              </a:rPr>
              <a:t>"What hostel facilities are available?"</a:t>
            </a:r>
            <a:endParaRPr lang="en-US" sz="1300" dirty="0"/>
          </a:p>
          <a:p>
            <a:pPr marL="342900" indent="-342900">
              <a:spcAft>
                <a:spcPts val="1000"/>
              </a:spcAft>
              <a:buSzPct val="100000"/>
              <a:buChar char="•"/>
            </a:pPr>
            <a:r>
              <a:rPr lang="en-US" sz="1300" i="1" dirty="0">
                <a:solidFill>
                  <a:srgbClr val="FFFFFF"/>
                </a:solidFill>
                <a:latin typeface="Calibri" pitchFamily="34" charset="0"/>
                <a:ea typeface="Calibri" pitchFamily="34" charset="-122"/>
                <a:cs typeface="Calibri" pitchFamily="34" charset="-120"/>
              </a:rPr>
              <a:t>"Something unusual — to trigger the Groq fallback"</a:t>
            </a:r>
            <a:endParaRPr lang="en-US" sz="1300" dirty="0"/>
          </a:p>
        </p:txBody>
      </p:sp>
      <p:sp>
        <p:nvSpPr>
          <p:cNvPr id="9" name="Text 6"/>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6E93A8"/>
                </a:solidFill>
                <a:latin typeface="Calibri" pitchFamily="34" charset="0"/>
                <a:ea typeface="Calibri" pitchFamily="34" charset="-122"/>
                <a:cs typeface="Calibri" pitchFamily="34" charset="-120"/>
              </a:rPr>
              <a:t>13</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2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animBg="1"/>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0A896">
              <a:alpha val="20000"/>
            </a:srgbClr>
          </a:solidFill>
          <a:ln/>
        </p:spPr>
      </p:sp>
      <p:sp>
        <p:nvSpPr>
          <p:cNvPr id="3" name="Shape 1"/>
          <p:cNvSpPr/>
          <p:nvPr/>
        </p:nvSpPr>
        <p:spPr>
          <a:xfrm>
            <a:off x="8686800" y="3657600"/>
            <a:ext cx="5486400" cy="5486400"/>
          </a:xfrm>
          <a:prstGeom prst="ellipse">
            <a:avLst/>
          </a:prstGeom>
          <a:solidFill>
            <a:srgbClr val="028090">
              <a:alpha val="20000"/>
            </a:srgbClr>
          </a:solidFill>
          <a:ln/>
        </p:spPr>
      </p:sp>
      <p:sp>
        <p:nvSpPr>
          <p:cNvPr id="4" name="Text 2"/>
          <p:cNvSpPr txBox="1"/>
          <p:nvPr/>
        </p:nvSpPr>
        <p:spPr>
          <a:xfrm>
            <a:off x="0" y="2377440"/>
            <a:ext cx="12188952" cy="91440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txBox="1"/>
          <p:nvPr/>
        </p:nvSpPr>
        <p:spPr>
          <a:xfrm>
            <a:off x="0" y="3291840"/>
            <a:ext cx="12188952" cy="457200"/>
          </a:xfrm>
          <a:prstGeom prst="rect">
            <a:avLst/>
          </a:prstGeom>
          <a:noFill/>
          <a:ln/>
        </p:spPr>
        <p:txBody>
          <a:bodyPr wrap="square" lIns="0" tIns="0" rIns="0" bIns="0" rtlCol="0" anchor="ctr"/>
          <a:lstStyle/>
          <a:p>
            <a:pPr marL="0" indent="0" algn="ctr">
              <a:buNone/>
            </a:pPr>
            <a:r>
              <a:rPr lang="en-US" sz="1800" dirty="0">
                <a:solidFill>
                  <a:srgbClr val="02C39A"/>
                </a:solidFill>
                <a:latin typeface="Calibri" pitchFamily="34" charset="0"/>
                <a:ea typeface="Calibri" pitchFamily="34" charset="-122"/>
                <a:cs typeface="Calibri" pitchFamily="34" charset="-120"/>
              </a:rPr>
              <a:t>Questions &amp; Discussion</a:t>
            </a:r>
            <a:endParaRPr lang="en-US" sz="1800" dirty="0"/>
          </a:p>
        </p:txBody>
      </p:sp>
      <p:sp>
        <p:nvSpPr>
          <p:cNvPr id="6" name="Text 4"/>
          <p:cNvSpPr txBox="1"/>
          <p:nvPr/>
        </p:nvSpPr>
        <p:spPr>
          <a:xfrm>
            <a:off x="731520" y="4206240"/>
            <a:ext cx="10725912" cy="457200"/>
          </a:xfrm>
          <a:prstGeom prst="rect">
            <a:avLst/>
          </a:prstGeom>
          <a:noFill/>
          <a:ln/>
        </p:spPr>
        <p:txBody>
          <a:bodyPr wrap="square" lIns="0" tIns="0" rIns="0" bIns="0" rtlCol="0" anchor="ctr"/>
          <a:lstStyle/>
          <a:p>
            <a:pPr marL="0" indent="0" algn="ctr">
              <a:buNone/>
            </a:pPr>
            <a:r>
              <a:rPr lang="en-US" sz="1200" dirty="0">
                <a:solidFill>
                  <a:srgbClr val="9FC6C9"/>
                </a:solidFill>
                <a:latin typeface="Calibri" pitchFamily="34" charset="0"/>
                <a:ea typeface="Calibri" pitchFamily="34" charset="-122"/>
                <a:cs typeface="Calibri" pitchFamily="34" charset="-120"/>
              </a:rPr>
              <a:t>Kumpati Kezia Jeshura (Team Lead)  •  Abhishek Chitriv  •  Poorva  •  Pratiksha Das  •  Maksud Mirza  •  Shagil Shaik  •  Waseem Khan</a:t>
            </a:r>
            <a:endParaRPr lang="en-US" sz="1200" dirty="0"/>
          </a:p>
        </p:txBody>
      </p:sp>
      <p:sp>
        <p:nvSpPr>
          <p:cNvPr id="7" name="Text 5"/>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6E93A8"/>
                </a:solidFill>
                <a:latin typeface="Calibri" pitchFamily="34" charset="0"/>
                <a:ea typeface="Calibri" pitchFamily="34" charset="-122"/>
                <a:cs typeface="Calibri" pitchFamily="34" charset="-120"/>
              </a:rPr>
              <a:t>14</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2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2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2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2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2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3081</Words>
  <Application>Microsoft Office PowerPoint</Application>
  <PresentationFormat>Widescreen</PresentationFormat>
  <Paragraphs>244</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Kezia Jeshura Kumpati</cp:lastModifiedBy>
  <cp:revision>3</cp:revision>
  <dcterms:created xsi:type="dcterms:W3CDTF">2026-09-06T14:23:36Z</dcterms:created>
  <dcterms:modified xsi:type="dcterms:W3CDTF">2026-09-07T13:28:17Z</dcterms:modified>
</cp:coreProperties>
</file>